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21"/>
  </p:notesMasterIdLst>
  <p:sldIdLst>
    <p:sldId id="328" r:id="rId2"/>
    <p:sldId id="329" r:id="rId3"/>
    <p:sldId id="311" r:id="rId4"/>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7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8B0862-FFFE-4015-B19E-7C0336997EFC}" type="datetimeFigureOut">
              <a:rPr lang="en-US" smtClean="0"/>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FA0868-6348-4FC9-AD7E-B4F89F8B9AB7}" type="slidenum">
              <a:rPr lang="en-US" smtClean="0"/>
              <a:t>‹#›</a:t>
            </a:fld>
            <a:endParaRPr lang="en-US"/>
          </a:p>
        </p:txBody>
      </p:sp>
    </p:spTree>
    <p:extLst>
      <p:ext uri="{BB962C8B-B14F-4D97-AF65-F5344CB8AC3E}">
        <p14:creationId xmlns:p14="http://schemas.microsoft.com/office/powerpoint/2010/main" val="3078505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Contoso Health planning demo: why traditional hospital budgets struggle to explain variances, how the driver-based model is built in Microsoft Fabric, what each column in the planning sheet means, and what the scenarios show. All data is synthetic.</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familiar explanation in monthly reviews: volume was up. For Med-Surg 3 West in Q2 2026 that was true, but it explained only 55 percent of the 51,295 dollar overrun. The rest split between staffing above target and paying premium rates. A traditional budget cannot show this split; a driver-based one can. Hospital-wide, agency labor ran 1.29 million dollars over budget from January to August 2026, 66 percent above plan.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variance view built in Power BI on the same semantic model. Every department ran agency labor above plan, which is the problem the plan has to address. Volume and revenue came in above plan, but labor cost rose faster because of agency and overtime.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costs are driven by patients, not by last year's spending. So forecast patient days, then derive nursing hours, FTEs and cost with simple rules. Each rule has an owner, which is what makes variances explainable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Source data lands in a Lakehouse as Delta tables. A semantic model defines relationships and measures once. Planning in Fabric IQ reads that model directly: the planning sheet holds the forecast, formulas and scenarios, and the intelligence sheet shows variance. Everything stays in one governed 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 model sits on the Lakehouse in Direct Lake mode. Relationships are one-to-many from dimensions to facts, single direction. The planning sheet connects to this same model, so plan, actuals and reports never drift apart.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sequence in the planning sheet. The most common mistake is step one: every fact table holds both actual and budget rows, so without the Actual filter, 2026 double counts and Predict learns a false jump. The forecast measure must exist before Predict, because Predict needs editable future periods to write into.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tab, Forecast. Starting the forecast in September 2026 means it picks up exactly where actuals end. The screenshot shows the dialog's basic step; closed and open periods follow.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screenshot was taken on a yearly sheet, which is why it says no seasonality options are available and Run Forecast is greyed out. Switching columns to year, quarter, month fixed it and enabled 12-month seasonality.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Days is the raw actual, so it is empty for 2027. Forecast 2027 carries the full line from history into the plan, which is why its past values match Patient Days exactly. Target HPPD varies a lot by unit: the ICU needs about twice the nursing hours per patient day that Med-Surg does. Note that at quarter and year level the sheet sums HPPD, so read it at month level.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formula measures in the planning sheet. They calculate month by month and then roll up, which is why the column aggregation settings matter: Sum for hours and cost, Average for FTEs. Labor cost uses 2027 wage rates for every year, so history shows what that volume would cost at next year's wages, not what the ledger recorded.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constants come from the dataset's planning drivers. Each one has an owner and can become an editable driver row later, for example if HR wants to test a different wage increase or PTO rate.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 forecast after filtering to actuals. 2026 as a full year comes to 92,970: 61,580 actual plus the predicted September to December. Mother-Baby eases as births decline; Pediatrics swings from 1,260 in Q1 to 900 in Q3.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Simulations only run on scenario tabs; the Base tab never changes. The number entered is an increase, not a share of base: 128 means plus 128 percent. Each change appears in the bar above the grid, where it can be removed individually.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plus 10 percent tab. Only Forecast 2027 was simulated; nursing hours, FTEs and labor cost recalculated on their own. The ICU adds about 6.8 FTEs because it needs 17 hours per patient day against Med-Surg's 8.5.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units: the three Med-Surg units, ICU, Progressive Care, Telemetry and Pediatrics. Twenty-one cells simulated at plus 20 percent. Compared with the flat plus 10 percent, it adds far less volume over the year but concentrates about 75 extra nurses into three months: an agency and overtime question, not a hiring 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Occupancy calculated from the surge scenario's January patient days divided by beds times 31 days. A spreadsheet accepts any number; a driver-based plan shows when the plan cannot physically happen.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days come from the scenario tabs. Hospital-wide hours, FTEs and cost for the flat scenarios are estimates from each unit's forecast; confirm against the All row before presenting. Surge figures are the sum of the three simulated months.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Compare. The small coloured numbers are variance tags, not separate columns. For ICU January 2027, base is 694, plus 10 is 764, and the delta shows minus 69 because it is calculated as base minus scenario.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8646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B2533"/>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1B2533"/>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9703430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B2533"/>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1B2533"/>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49463919"/>
      </p:ext>
    </p:extLst>
  </p:cSld>
  <p:clrMap bg1="lt1" tx1="dk1" bg2="lt2" tx2="dk2" accent1="accent1" accent2="accent2" accent3="accent3" accent4="accent4" accent5="accent5" accent6="accent6" hlink="hlink" folHlink="folHlink"/>
  <p:sldLayoutIdLst>
    <p:sldLayoutId id="2147483665" r:id="rId1"/>
    <p:sldLayoutId id="2147483666"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p:nvPr/>
        </p:nvSpPr>
        <p:spPr>
          <a:xfrm>
            <a:off x="812800" y="1905000"/>
            <a:ext cx="5588000" cy="2794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100" normalizeH="0" baseline="0" noProof="0" dirty="0">
                <a:ln>
                  <a:noFill/>
                </a:ln>
                <a:solidFill>
                  <a:srgbClr val="6CC2B4"/>
                </a:solidFill>
                <a:effectLst/>
                <a:uLnTx/>
                <a:uFillTx/>
                <a:latin typeface="Inter" pitchFamily="34" charset="0"/>
                <a:ea typeface="Inter" pitchFamily="34" charset="-122"/>
                <a:cs typeface="Inter" pitchFamily="34" charset="-120"/>
              </a:rPr>
              <a:t>MICROSOFT FABRIC · PLANNING IN FABRIC IQ</a:t>
            </a:r>
            <a:endParaRPr kumimoji="0" lang="en-US" sz="1400" b="0" i="0" u="none" strike="noStrike" kern="1200" cap="none" spc="0" normalizeH="0" baseline="0" noProof="0" dirty="0">
              <a:ln>
                <a:noFill/>
              </a:ln>
              <a:solidFill>
                <a:srgbClr val="1B2533"/>
              </a:solidFill>
              <a:effectLst/>
              <a:uLnTx/>
              <a:uFillTx/>
              <a:ea typeface="+mn-ea"/>
              <a:cs typeface="+mn-cs"/>
            </a:endParaRPr>
          </a:p>
        </p:txBody>
      </p:sp>
      <p:sp>
        <p:nvSpPr>
          <p:cNvPr id="3" name="Text 1"/>
          <p:cNvSpPr>
            <a:spLocks noGrp="1"/>
          </p:cNvSpPr>
          <p:nvPr>
            <p:ph type="title"/>
          </p:nvPr>
        </p:nvSpPr>
        <p:spPr>
          <a:xfrm>
            <a:off x="812800" y="2362200"/>
            <a:ext cx="5842000" cy="1727200"/>
          </a:xfrm>
          <a:prstGeom prst="rect">
            <a:avLst/>
          </a:prstGeom>
          <a:noFill/>
          <a:ln/>
        </p:spPr>
        <p:txBody>
          <a:bodyPr wrap="square" lIns="0" tIns="0" rIns="0" bIns="0" rtlCol="0" anchor="t">
            <a:normAutofit/>
          </a:bodyPr>
          <a:lstStyle/>
          <a:p>
            <a:pPr marL="0" indent="0" algn="l">
              <a:lnSpc>
                <a:spcPts val="6200"/>
              </a:lnSpc>
              <a:buNone/>
            </a:pPr>
            <a:r>
              <a:rPr lang="en-US" sz="5400" b="1" i="0" dirty="0">
                <a:solidFill>
                  <a:srgbClr val="F3F1EC"/>
                </a:solidFill>
                <a:latin typeface="Source Serif 4" pitchFamily="18" charset="0"/>
                <a:ea typeface="Source Serif 4" pitchFamily="18" charset="-122"/>
                <a:cs typeface="Source Serif 4" pitchFamily="18" charset="-120"/>
              </a:rPr>
              <a:t>Budget patients,</a:t>
            </a:r>
            <a:br>
              <a:rPr lang="en-US" sz="5400" b="1" i="0" dirty="0">
                <a:solidFill>
                  <a:srgbClr val="F3F1EC"/>
                </a:solidFill>
                <a:latin typeface="Source Serif 4" pitchFamily="18" charset="0"/>
                <a:ea typeface="Source Serif 4" pitchFamily="18" charset="-122"/>
                <a:cs typeface="Source Serif 4" pitchFamily="18" charset="-120"/>
              </a:rPr>
            </a:br>
            <a:r>
              <a:rPr lang="en-US" sz="5400" b="1" i="0" dirty="0">
                <a:solidFill>
                  <a:srgbClr val="F3F1EC"/>
                </a:solidFill>
                <a:latin typeface="Source Serif 4" pitchFamily="18" charset="0"/>
                <a:ea typeface="Source Serif 4" pitchFamily="18" charset="-122"/>
                <a:cs typeface="Source Serif 4" pitchFamily="18" charset="-120"/>
              </a:rPr>
              <a:t>not dollars</a:t>
            </a:r>
            <a:endParaRPr lang="en-US" sz="5400" dirty="0"/>
          </a:p>
        </p:txBody>
      </p:sp>
      <p:sp>
        <p:nvSpPr>
          <p:cNvPr id="4" name="Text 2"/>
          <p:cNvSpPr/>
          <p:nvPr/>
        </p:nvSpPr>
        <p:spPr>
          <a:xfrm>
            <a:off x="812800" y="4521200"/>
            <a:ext cx="6350000" cy="3556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34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6D2C8"/>
                </a:solidFill>
                <a:effectLst/>
                <a:uLnTx/>
                <a:uFillTx/>
                <a:latin typeface="Inter" pitchFamily="34" charset="0"/>
                <a:ea typeface="Inter" pitchFamily="34" charset="-122"/>
                <a:cs typeface="Inter" pitchFamily="34" charset="-120"/>
              </a:rPr>
              <a:t>Driver-based operational planning for Contoso Health</a:t>
            </a:r>
            <a:endParaRPr kumimoji="0" lang="en-US" sz="1800" b="0" i="0" u="none" strike="noStrike" kern="1200" cap="none" spc="0" normalizeH="0" baseline="0" noProof="0" dirty="0">
              <a:ln>
                <a:noFill/>
              </a:ln>
              <a:solidFill>
                <a:srgbClr val="1B2533"/>
              </a:solidFill>
              <a:effectLst/>
              <a:uLnTx/>
              <a:uFillTx/>
              <a:latin typeface="Inter"/>
              <a:ea typeface="+mn-ea"/>
              <a:cs typeface="+mn-cs"/>
            </a:endParaRPr>
          </a:p>
        </p:txBody>
      </p:sp>
      <p:sp>
        <p:nvSpPr>
          <p:cNvPr id="5" name="Text 3"/>
          <p:cNvSpPr/>
          <p:nvPr/>
        </p:nvSpPr>
        <p:spPr>
          <a:xfrm>
            <a:off x="812800" y="5994400"/>
            <a:ext cx="5588000" cy="2413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1BD"/>
                </a:solidFill>
                <a:effectLst/>
                <a:uLnTx/>
                <a:uFillTx/>
                <a:latin typeface="Inter" pitchFamily="34" charset="0"/>
                <a:ea typeface="Inter" pitchFamily="34" charset="-122"/>
                <a:cs typeface="Inter" pitchFamily="34" charset="-120"/>
              </a:rPr>
              <a:t>Demo walkthrough · Synthetic 300-bed hospital dataset</a:t>
            </a:r>
            <a:endParaRPr kumimoji="0" lang="en-US" sz="1200" b="0" i="0" u="none" strike="noStrike" kern="1200" cap="none" spc="0" normalizeH="0" baseline="0" noProof="0" dirty="0">
              <a:ln>
                <a:noFill/>
              </a:ln>
              <a:solidFill>
                <a:srgbClr val="1B2533"/>
              </a:solidFill>
              <a:effectLst/>
              <a:uLnTx/>
              <a:uFillTx/>
              <a:latin typeface="Inter"/>
              <a:ea typeface="+mn-ea"/>
              <a:cs typeface="+mn-cs"/>
            </a:endParaRPr>
          </a:p>
        </p:txBody>
      </p:sp>
      <p:sp>
        <p:nvSpPr>
          <p:cNvPr id="10" name="Accent rule"/>
          <p:cNvSpPr/>
          <p:nvPr/>
        </p:nvSpPr>
        <p:spPr>
          <a:xfrm>
            <a:off x="812800" y="4241800"/>
            <a:ext cx="711200" cy="38100"/>
          </a:xfrm>
          <a:prstGeom prst="rect">
            <a:avLst/>
          </a:prstGeom>
          <a:solidFill>
            <a:srgbClr val="6CC2B4"/>
          </a:solidFill>
          <a:ln>
            <a:noFill/>
          </a:ln>
        </p:spPr>
        <p:txBody>
          <a:bodyPr/>
          <a:lstStyle/>
          <a:p>
            <a:endParaRPr lang="en-US"/>
          </a:p>
        </p:txBody>
      </p:sp>
      <p:sp>
        <p:nvSpPr>
          <p:cNvPr id="11" name="Model caption"/>
          <p:cNvSpPr/>
          <p:nvPr/>
        </p:nvSpPr>
        <p:spPr>
          <a:xfrm>
            <a:off x="7315200" y="1168400"/>
            <a:ext cx="4064000" cy="228600"/>
          </a:xfrm>
          <a:prstGeom prst="rect">
            <a:avLst/>
          </a:prstGeom>
          <a:noFill/>
          <a:ln>
            <a:noFill/>
          </a:ln>
        </p:spPr>
        <p:txBody>
          <a:bodyPr wrap="square" lIns="0" tIns="0" rIns="0" bIns="0" anchor="t">
            <a:noAutofit/>
          </a:bodyPr>
          <a:lstStyle/>
          <a:p>
            <a:pPr algn="l">
              <a:buNone/>
            </a:pPr>
            <a:r>
              <a:rPr lang="en-US" sz="1200" b="1" dirty="0">
                <a:solidFill>
                  <a:srgbClr val="A9B1BD"/>
                </a:solidFill>
                <a:latin typeface="Inter"/>
              </a:rPr>
              <a:t>HOW THE BUDGET IS BUILT</a:t>
            </a:r>
          </a:p>
        </p:txBody>
      </p:sp>
      <p:sp>
        <p:nvSpPr>
          <p:cNvPr id="12" name="Driver card 1"/>
          <p:cNvSpPr/>
          <p:nvPr/>
        </p:nvSpPr>
        <p:spPr>
          <a:xfrm>
            <a:off x="7315200" y="1524000"/>
            <a:ext cx="4064000" cy="711200"/>
          </a:xfrm>
          <a:prstGeom prst="roundRect">
            <a:avLst>
              <a:gd name="adj" fmla="val 12000"/>
            </a:avLst>
          </a:prstGeom>
          <a:solidFill>
            <a:srgbClr val="1E3350"/>
          </a:solidFill>
          <a:ln w="12700">
            <a:solidFill>
              <a:srgbClr val="2E4A6B"/>
            </a:solidFill>
          </a:ln>
        </p:spPr>
        <p:txBody>
          <a:bodyPr wrap="square" lIns="203200" tIns="0" rIns="203200" bIns="0" anchor="ctr">
            <a:noAutofit/>
          </a:bodyPr>
          <a:lstStyle/>
          <a:p>
            <a:pPr algn="l">
              <a:buNone/>
            </a:pPr>
            <a:r>
              <a:rPr lang="en-US" sz="1800" b="1" dirty="0">
                <a:solidFill>
                  <a:srgbClr val="F3F1EC"/>
                </a:solidFill>
                <a:latin typeface="Inter"/>
              </a:rPr>
              <a:t>Patient days</a:t>
            </a:r>
            <a:r>
              <a:rPr lang="en-US" sz="1200" b="0" dirty="0">
                <a:solidFill>
                  <a:srgbClr val="F3F1EC"/>
                </a:solidFill>
                <a:latin typeface="Inter"/>
              </a:rPr>
              <a:t>   </a:t>
            </a:r>
            <a:r>
              <a:rPr lang="en-US" sz="1400" b="0" dirty="0">
                <a:solidFill>
                  <a:srgbClr val="C5CCD6"/>
                </a:solidFill>
                <a:latin typeface="Inter"/>
              </a:rPr>
              <a:t>Volume driver</a:t>
            </a:r>
          </a:p>
        </p:txBody>
      </p:sp>
      <p:sp>
        <p:nvSpPr>
          <p:cNvPr id="13" name="Operator 1"/>
          <p:cNvSpPr/>
          <p:nvPr/>
        </p:nvSpPr>
        <p:spPr>
          <a:xfrm>
            <a:off x="9182100" y="2298700"/>
            <a:ext cx="330200" cy="330200"/>
          </a:xfrm>
          <a:prstGeom prst="ellipse">
            <a:avLst/>
          </a:prstGeom>
          <a:solidFill>
            <a:srgbClr val="14243B"/>
          </a:solidFill>
          <a:ln w="12700">
            <a:solidFill>
              <a:srgbClr val="6CC2B4"/>
            </a:solidFill>
          </a:ln>
        </p:spPr>
        <p:txBody>
          <a:bodyPr wrap="none" lIns="0" tIns="0" rIns="0" bIns="0" anchor="ctr">
            <a:noAutofit/>
          </a:bodyPr>
          <a:lstStyle/>
          <a:p>
            <a:pPr algn="ctr">
              <a:buNone/>
            </a:pPr>
            <a:r>
              <a:rPr lang="en-US" sz="1400" b="1" dirty="0">
                <a:solidFill>
                  <a:srgbClr val="6CC2B4"/>
                </a:solidFill>
                <a:latin typeface="Inter"/>
              </a:rPr>
              <a:t>×</a:t>
            </a:r>
          </a:p>
        </p:txBody>
      </p:sp>
      <p:sp>
        <p:nvSpPr>
          <p:cNvPr id="14" name="Driver card 2"/>
          <p:cNvSpPr/>
          <p:nvPr/>
        </p:nvSpPr>
        <p:spPr>
          <a:xfrm>
            <a:off x="7315200" y="2692400"/>
            <a:ext cx="4064000" cy="711200"/>
          </a:xfrm>
          <a:prstGeom prst="roundRect">
            <a:avLst>
              <a:gd name="adj" fmla="val 12000"/>
            </a:avLst>
          </a:prstGeom>
          <a:solidFill>
            <a:srgbClr val="1E3350"/>
          </a:solidFill>
          <a:ln w="12700">
            <a:solidFill>
              <a:srgbClr val="2E4A6B"/>
            </a:solidFill>
          </a:ln>
        </p:spPr>
        <p:txBody>
          <a:bodyPr wrap="square" lIns="203200" tIns="0" rIns="203200" bIns="0" anchor="ctr">
            <a:noAutofit/>
          </a:bodyPr>
          <a:lstStyle/>
          <a:p>
            <a:pPr algn="l">
              <a:buNone/>
            </a:pPr>
            <a:r>
              <a:rPr lang="en-US" sz="1800" b="1" dirty="0">
                <a:solidFill>
                  <a:srgbClr val="F3F1EC"/>
                </a:solidFill>
                <a:latin typeface="Inter"/>
              </a:rPr>
              <a:t>Hours per patient day</a:t>
            </a:r>
            <a:r>
              <a:rPr lang="en-US" sz="1200" b="0" dirty="0">
                <a:solidFill>
                  <a:srgbClr val="F3F1EC"/>
                </a:solidFill>
                <a:latin typeface="Inter"/>
              </a:rPr>
              <a:t>   </a:t>
            </a:r>
            <a:r>
              <a:rPr lang="en-US" sz="1400" b="0" dirty="0">
                <a:solidFill>
                  <a:srgbClr val="C5CCD6"/>
                </a:solidFill>
                <a:latin typeface="Inter"/>
              </a:rPr>
              <a:t>Staffing driver</a:t>
            </a:r>
          </a:p>
        </p:txBody>
      </p:sp>
      <p:sp>
        <p:nvSpPr>
          <p:cNvPr id="15" name="Operator 2"/>
          <p:cNvSpPr/>
          <p:nvPr/>
        </p:nvSpPr>
        <p:spPr>
          <a:xfrm>
            <a:off x="9182100" y="3467100"/>
            <a:ext cx="330200" cy="330200"/>
          </a:xfrm>
          <a:prstGeom prst="ellipse">
            <a:avLst/>
          </a:prstGeom>
          <a:solidFill>
            <a:srgbClr val="14243B"/>
          </a:solidFill>
          <a:ln w="12700">
            <a:solidFill>
              <a:srgbClr val="6CC2B4"/>
            </a:solidFill>
          </a:ln>
        </p:spPr>
        <p:txBody>
          <a:bodyPr wrap="none" lIns="0" tIns="0" rIns="0" bIns="0" anchor="ctr">
            <a:noAutofit/>
          </a:bodyPr>
          <a:lstStyle/>
          <a:p>
            <a:pPr algn="ctr">
              <a:buNone/>
            </a:pPr>
            <a:r>
              <a:rPr lang="en-US" sz="1400" b="1" dirty="0">
                <a:solidFill>
                  <a:srgbClr val="6CC2B4"/>
                </a:solidFill>
                <a:latin typeface="Inter"/>
              </a:rPr>
              <a:t>×</a:t>
            </a:r>
          </a:p>
        </p:txBody>
      </p:sp>
      <p:sp>
        <p:nvSpPr>
          <p:cNvPr id="16" name="Driver card 3"/>
          <p:cNvSpPr/>
          <p:nvPr/>
        </p:nvSpPr>
        <p:spPr>
          <a:xfrm>
            <a:off x="7315200" y="3860800"/>
            <a:ext cx="4064000" cy="711200"/>
          </a:xfrm>
          <a:prstGeom prst="roundRect">
            <a:avLst>
              <a:gd name="adj" fmla="val 12000"/>
            </a:avLst>
          </a:prstGeom>
          <a:solidFill>
            <a:srgbClr val="1E3350"/>
          </a:solidFill>
          <a:ln w="12700">
            <a:solidFill>
              <a:srgbClr val="2E4A6B"/>
            </a:solidFill>
          </a:ln>
        </p:spPr>
        <p:txBody>
          <a:bodyPr wrap="square" lIns="203200" tIns="0" rIns="203200" bIns="0" anchor="ctr">
            <a:noAutofit/>
          </a:bodyPr>
          <a:lstStyle/>
          <a:p>
            <a:pPr algn="l">
              <a:buNone/>
            </a:pPr>
            <a:r>
              <a:rPr lang="en-US" sz="1800" b="1" dirty="0">
                <a:solidFill>
                  <a:srgbClr val="F3F1EC"/>
                </a:solidFill>
                <a:latin typeface="Inter"/>
              </a:rPr>
              <a:t>Rate per worked hour</a:t>
            </a:r>
            <a:r>
              <a:rPr lang="en-US" sz="1200" b="0" dirty="0">
                <a:solidFill>
                  <a:srgbClr val="F3F1EC"/>
                </a:solidFill>
                <a:latin typeface="Inter"/>
              </a:rPr>
              <a:t>   </a:t>
            </a:r>
            <a:r>
              <a:rPr lang="en-US" sz="1400" b="0" dirty="0">
                <a:solidFill>
                  <a:srgbClr val="C5CCD6"/>
                </a:solidFill>
                <a:latin typeface="Inter"/>
              </a:rPr>
              <a:t>Rate driver</a:t>
            </a:r>
          </a:p>
        </p:txBody>
      </p:sp>
      <p:sp>
        <p:nvSpPr>
          <p:cNvPr id="17" name="Operator 3"/>
          <p:cNvSpPr/>
          <p:nvPr/>
        </p:nvSpPr>
        <p:spPr>
          <a:xfrm>
            <a:off x="9182100" y="4635500"/>
            <a:ext cx="330200" cy="330200"/>
          </a:xfrm>
          <a:prstGeom prst="ellipse">
            <a:avLst/>
          </a:prstGeom>
          <a:solidFill>
            <a:srgbClr val="14243B"/>
          </a:solidFill>
          <a:ln w="12700">
            <a:solidFill>
              <a:srgbClr val="6CC2B4"/>
            </a:solidFill>
          </a:ln>
        </p:spPr>
        <p:txBody>
          <a:bodyPr wrap="none" lIns="0" tIns="0" rIns="0" bIns="0" anchor="ctr">
            <a:noAutofit/>
          </a:bodyPr>
          <a:lstStyle/>
          <a:p>
            <a:pPr algn="ctr">
              <a:buNone/>
            </a:pPr>
            <a:r>
              <a:rPr lang="en-US" sz="1400" b="1" dirty="0">
                <a:solidFill>
                  <a:srgbClr val="6CC2B4"/>
                </a:solidFill>
                <a:latin typeface="Inter"/>
              </a:rPr>
              <a:t>=</a:t>
            </a:r>
          </a:p>
        </p:txBody>
      </p:sp>
      <p:sp>
        <p:nvSpPr>
          <p:cNvPr id="18" name="Driver card 4"/>
          <p:cNvSpPr/>
          <p:nvPr/>
        </p:nvSpPr>
        <p:spPr>
          <a:xfrm>
            <a:off x="7315200" y="5029200"/>
            <a:ext cx="4064000" cy="711200"/>
          </a:xfrm>
          <a:prstGeom prst="roundRect">
            <a:avLst>
              <a:gd name="adj" fmla="val 12000"/>
            </a:avLst>
          </a:prstGeom>
          <a:solidFill>
            <a:srgbClr val="B35716"/>
          </a:solidFill>
          <a:ln>
            <a:noFill/>
          </a:ln>
        </p:spPr>
        <p:txBody>
          <a:bodyPr wrap="square" lIns="203200" tIns="0" rIns="203200" bIns="0" anchor="ctr">
            <a:noAutofit/>
          </a:bodyPr>
          <a:lstStyle/>
          <a:p>
            <a:pPr algn="l">
              <a:buNone/>
            </a:pPr>
            <a:r>
              <a:rPr lang="en-US" sz="1800" b="1" dirty="0">
                <a:solidFill>
                  <a:srgbClr val="F3F1EC"/>
                </a:solidFill>
                <a:latin typeface="Inter"/>
              </a:rPr>
              <a:t>Labor dollars</a:t>
            </a:r>
            <a:r>
              <a:rPr lang="en-US" sz="1200" b="0" dirty="0">
                <a:solidFill>
                  <a:srgbClr val="F3F1EC"/>
                </a:solidFill>
                <a:latin typeface="Inter"/>
              </a:rPr>
              <a:t>   </a:t>
            </a:r>
            <a:r>
              <a:rPr lang="en-US" sz="1400" b="0" dirty="0">
                <a:solidFill>
                  <a:srgbClr val="F6E3D3"/>
                </a:solidFill>
                <a:latin typeface="Inter"/>
              </a:rPr>
              <a:t>Output</a:t>
            </a:r>
          </a:p>
        </p:txBody>
      </p:sp>
    </p:spTree>
    <p:extLst>
      <p:ext uri="{BB962C8B-B14F-4D97-AF65-F5344CB8AC3E}">
        <p14:creationId xmlns:p14="http://schemas.microsoft.com/office/powerpoint/2010/main" val="2979243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fontScale="90000"/>
          </a:bodyPr>
          <a:lstStyle/>
          <a:p>
            <a:pPr marL="0" indent="0" algn="l">
              <a:lnSpc>
                <a:spcPts val="3800"/>
              </a:lnSpc>
              <a:buNone/>
            </a:pPr>
            <a:r>
              <a:rPr lang="en-US" sz="3200" b="1" i="0" dirty="0">
                <a:solidFill>
                  <a:srgbClr val="F3F1EC"/>
                </a:solidFill>
                <a:latin typeface="Source Serif 4" pitchFamily="18" charset="0"/>
                <a:ea typeface="Source Serif 4" pitchFamily="18" charset="-122"/>
                <a:cs typeface="Source Serif 4" pitchFamily="18" charset="-120"/>
              </a:rPr>
              <a:t>“Volume was up” explains only half the overrun</a:t>
            </a:r>
            <a:endParaRPr lang="en-US" sz="3000" dirty="0"/>
          </a:p>
        </p:txBody>
      </p:sp>
      <p:sp>
        <p:nvSpPr>
          <p:cNvPr id="3" name="Eyebrow"/>
          <p:cNvSpPr txBox="1"/>
          <p:nvPr/>
        </p:nvSpPr>
        <p:spPr>
          <a:xfrm>
            <a:off x="812800" y="482600"/>
            <a:ext cx="762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pitchFamily="34" charset="0"/>
                <a:ea typeface="Inter" pitchFamily="34" charset="-122"/>
                <a:cs typeface="Inter" pitchFamily="34" charset="-120"/>
              </a:rPr>
              <a:t>Q2 2026 LABOR VARIANCE · MED-SURG 3 WEST</a:t>
            </a:r>
          </a:p>
        </p:txBody>
      </p:sp>
      <p:sp>
        <p:nvSpPr>
          <p:cNvPr id="4" name="Big number"/>
          <p:cNvSpPr txBox="1"/>
          <p:nvPr/>
        </p:nvSpPr>
        <p:spPr>
          <a:xfrm>
            <a:off x="812800" y="1981200"/>
            <a:ext cx="3683000" cy="889000"/>
          </a:xfrm>
          <a:prstGeom prst="rect">
            <a:avLst/>
          </a:prstGeom>
          <a:noFill/>
          <a:ln>
            <a:noFill/>
          </a:ln>
        </p:spPr>
        <p:txBody>
          <a:bodyPr wrap="square" lIns="0" tIns="0" rIns="0" bIns="0" anchor="t">
            <a:noAutofit/>
          </a:bodyPr>
          <a:lstStyle/>
          <a:p>
            <a:pPr marL="0" indent="0" algn="l">
              <a:lnSpc>
                <a:spcPts val="6000"/>
              </a:lnSpc>
              <a:buNone/>
            </a:pPr>
            <a:r>
              <a:rPr lang="en-US" sz="5400" b="1" dirty="0">
                <a:solidFill>
                  <a:srgbClr val="B35716"/>
                </a:solidFill>
                <a:latin typeface="Source Serif 4" pitchFamily="18" charset="0"/>
                <a:ea typeface="Source Serif 4" pitchFamily="18" charset="-122"/>
                <a:cs typeface="Source Serif 4" pitchFamily="18" charset="-120"/>
              </a:rPr>
              <a:t>$51,295</a:t>
            </a:r>
          </a:p>
        </p:txBody>
      </p:sp>
      <p:sp>
        <p:nvSpPr>
          <p:cNvPr id="5" name="Accent rule"/>
          <p:cNvSpPr txBox="1"/>
          <p:nvPr/>
        </p:nvSpPr>
        <p:spPr>
          <a:xfrm>
            <a:off x="812800" y="2946400"/>
            <a:ext cx="711200" cy="38100"/>
          </a:xfrm>
          <a:prstGeom prst="rect">
            <a:avLst/>
          </a:prstGeom>
          <a:solidFill>
            <a:srgbClr val="6CC2B4"/>
          </a:solidFill>
          <a:ln>
            <a:noFill/>
          </a:ln>
        </p:spPr>
        <p:txBody>
          <a:bodyPr wrap="square" lIns="0" tIns="0" rIns="0" bIns="0" anchor="t">
            <a:noAutofit/>
          </a:bodyPr>
          <a:lstStyle/>
          <a:p>
            <a:endParaRPr lang="en-US"/>
          </a:p>
        </p:txBody>
      </p:sp>
      <p:sp>
        <p:nvSpPr>
          <p:cNvPr id="6" name="Context"/>
          <p:cNvSpPr txBox="1"/>
          <p:nvPr/>
        </p:nvSpPr>
        <p:spPr>
          <a:xfrm>
            <a:off x="812800" y="3200400"/>
            <a:ext cx="3556000" cy="889000"/>
          </a:xfrm>
          <a:prstGeom prst="rect">
            <a:avLst/>
          </a:prstGeom>
          <a:noFill/>
          <a:ln>
            <a:noFill/>
          </a:ln>
        </p:spPr>
        <p:txBody>
          <a:bodyPr wrap="square" lIns="0" tIns="0" rIns="0" bIns="0" anchor="t">
            <a:noAutofit/>
          </a:bodyPr>
          <a:lstStyle/>
          <a:p>
            <a:pPr marL="0" indent="0" algn="l">
              <a:lnSpc>
                <a:spcPts val="2240"/>
              </a:lnSpc>
              <a:buNone/>
            </a:pPr>
            <a:r>
              <a:rPr lang="en-US" sz="1600" b="0" dirty="0">
                <a:solidFill>
                  <a:srgbClr val="D6D2C8"/>
                </a:solidFill>
                <a:latin typeface="Inter" pitchFamily="34" charset="0"/>
                <a:ea typeface="Inter" pitchFamily="34" charset="-122"/>
                <a:cs typeface="Inter" pitchFamily="34" charset="-120"/>
              </a:rPr>
              <a:t>Med-Surg 3 West ran over its direct-care labor budget in Q2 2026 (Apr–Jun).</a:t>
            </a:r>
          </a:p>
        </p:txBody>
      </p:sp>
      <p:sp>
        <p:nvSpPr>
          <p:cNvPr id="7" name="Insight"/>
          <p:cNvSpPr txBox="1"/>
          <p:nvPr/>
        </p:nvSpPr>
        <p:spPr>
          <a:xfrm>
            <a:off x="812800" y="4267200"/>
            <a:ext cx="3556000" cy="812800"/>
          </a:xfrm>
          <a:prstGeom prst="rect">
            <a:avLst/>
          </a:prstGeom>
          <a:noFill/>
          <a:ln>
            <a:noFill/>
          </a:ln>
        </p:spPr>
        <p:txBody>
          <a:bodyPr wrap="square" lIns="0" tIns="0" rIns="0" bIns="0" anchor="t">
            <a:noAutofit/>
          </a:bodyPr>
          <a:lstStyle/>
          <a:p>
            <a:pPr marL="0" indent="0" algn="l">
              <a:lnSpc>
                <a:spcPts val="1960"/>
              </a:lnSpc>
              <a:buNone/>
            </a:pPr>
            <a:r>
              <a:rPr lang="en-US" sz="1400" b="0" dirty="0">
                <a:solidFill>
                  <a:srgbClr val="A9B1BD"/>
                </a:solidFill>
                <a:latin typeface="Inter" pitchFamily="34" charset="0"/>
                <a:ea typeface="Inter" pitchFamily="34" charset="-122"/>
                <a:cs typeface="Inter" pitchFamily="34" charset="-120"/>
              </a:rPr>
              <a:t>Higher census explained 55%. Almost half came from causes nobody was discussing.</a:t>
            </a:r>
          </a:p>
        </p:txBody>
      </p:sp>
      <p:sp>
        <p:nvSpPr>
          <p:cNvPr id="8" name="Bar caption"/>
          <p:cNvSpPr txBox="1"/>
          <p:nvPr/>
        </p:nvSpPr>
        <p:spPr>
          <a:xfrm>
            <a:off x="4978400" y="1981200"/>
            <a:ext cx="6400800" cy="228600"/>
          </a:xfrm>
          <a:prstGeom prst="rect">
            <a:avLst/>
          </a:prstGeom>
          <a:noFill/>
          <a:ln>
            <a:noFill/>
          </a:ln>
        </p:spPr>
        <p:txBody>
          <a:bodyPr wrap="square" lIns="0" tIns="0" rIns="0" bIns="0" anchor="t">
            <a:noAutofit/>
          </a:bodyPr>
          <a:lstStyle/>
          <a:p>
            <a:pPr marL="0" indent="0" algn="l">
              <a:buNone/>
            </a:pPr>
            <a:r>
              <a:rPr lang="en-US" sz="1300" b="1" dirty="0">
                <a:solidFill>
                  <a:srgbClr val="A9B1BD"/>
                </a:solidFill>
                <a:latin typeface="Inter" pitchFamily="34" charset="0"/>
                <a:ea typeface="Inter" pitchFamily="34" charset="-122"/>
                <a:cs typeface="Inter" pitchFamily="34" charset="-120"/>
              </a:rPr>
              <a:t>WHERE THE OVERRUN CAME FROM</a:t>
            </a:r>
          </a:p>
        </p:txBody>
      </p:sp>
      <p:sp>
        <p:nvSpPr>
          <p:cNvPr id="9" name="Bar segment 1"/>
          <p:cNvSpPr txBox="1"/>
          <p:nvPr/>
        </p:nvSpPr>
        <p:spPr>
          <a:xfrm>
            <a:off x="4978400" y="2286000"/>
            <a:ext cx="3533140" cy="355600"/>
          </a:xfrm>
          <a:prstGeom prst="rect">
            <a:avLst/>
          </a:prstGeom>
          <a:solidFill>
            <a:srgbClr val="1D7A6E"/>
          </a:solidFill>
          <a:ln>
            <a:noFill/>
          </a:ln>
        </p:spPr>
        <p:txBody>
          <a:bodyPr wrap="square" lIns="0" tIns="0" rIns="0" bIns="0" anchor="ctr">
            <a:noAutofit/>
          </a:bodyPr>
          <a:lstStyle/>
          <a:p>
            <a:pPr marL="0" indent="0" algn="ctr">
              <a:buNone/>
            </a:pPr>
            <a:r>
              <a:rPr lang="en-US" sz="1400" b="1" dirty="0">
                <a:solidFill>
                  <a:srgbClr val="F3F1EC"/>
                </a:solidFill>
                <a:latin typeface="Inter" pitchFamily="34" charset="0"/>
                <a:ea typeface="Inter" pitchFamily="34" charset="-122"/>
                <a:cs typeface="Inter" pitchFamily="34" charset="-120"/>
              </a:rPr>
              <a:t>55%</a:t>
            </a:r>
          </a:p>
        </p:txBody>
      </p:sp>
      <p:sp>
        <p:nvSpPr>
          <p:cNvPr id="10" name="Bar segment 2"/>
          <p:cNvSpPr txBox="1"/>
          <p:nvPr/>
        </p:nvSpPr>
        <p:spPr>
          <a:xfrm>
            <a:off x="8511540" y="2286000"/>
            <a:ext cx="1082040" cy="355600"/>
          </a:xfrm>
          <a:prstGeom prst="rect">
            <a:avLst/>
          </a:prstGeom>
          <a:solidFill>
            <a:srgbClr val="7FB3D5"/>
          </a:solidFill>
          <a:ln>
            <a:noFill/>
          </a:ln>
        </p:spPr>
        <p:txBody>
          <a:bodyPr wrap="square" lIns="0" tIns="0" rIns="0" bIns="0" anchor="ctr">
            <a:noAutofit/>
          </a:bodyPr>
          <a:lstStyle/>
          <a:p>
            <a:pPr marL="0" indent="0" algn="ctr">
              <a:buNone/>
            </a:pPr>
            <a:r>
              <a:rPr lang="en-US" sz="1400" b="1" dirty="0">
                <a:solidFill>
                  <a:srgbClr val="14243B"/>
                </a:solidFill>
                <a:latin typeface="Inter" pitchFamily="34" charset="0"/>
                <a:ea typeface="Inter" pitchFamily="34" charset="-122"/>
                <a:cs typeface="Inter" pitchFamily="34" charset="-120"/>
              </a:rPr>
              <a:t>17%</a:t>
            </a:r>
          </a:p>
        </p:txBody>
      </p:sp>
      <p:sp>
        <p:nvSpPr>
          <p:cNvPr id="11" name="Bar segment 3"/>
          <p:cNvSpPr txBox="1"/>
          <p:nvPr/>
        </p:nvSpPr>
        <p:spPr>
          <a:xfrm>
            <a:off x="9593580" y="2286000"/>
            <a:ext cx="1785620" cy="355600"/>
          </a:xfrm>
          <a:prstGeom prst="rect">
            <a:avLst/>
          </a:prstGeom>
          <a:solidFill>
            <a:srgbClr val="B35716"/>
          </a:solidFill>
          <a:ln>
            <a:noFill/>
          </a:ln>
        </p:spPr>
        <p:txBody>
          <a:bodyPr wrap="square" lIns="0" tIns="0" rIns="0" bIns="0" anchor="ctr">
            <a:noAutofit/>
          </a:bodyPr>
          <a:lstStyle/>
          <a:p>
            <a:pPr marL="0" indent="0" algn="ctr">
              <a:buNone/>
            </a:pPr>
            <a:r>
              <a:rPr lang="en-US" sz="1400" b="1" dirty="0">
                <a:solidFill>
                  <a:srgbClr val="F3F1EC"/>
                </a:solidFill>
                <a:latin typeface="Inter" pitchFamily="34" charset="0"/>
                <a:ea typeface="Inter" pitchFamily="34" charset="-122"/>
                <a:cs typeface="Inter" pitchFamily="34" charset="-120"/>
              </a:rPr>
              <a:t>28%</a:t>
            </a:r>
          </a:p>
        </p:txBody>
      </p:sp>
      <p:sp>
        <p:nvSpPr>
          <p:cNvPr id="12" name="Driver card 1"/>
          <p:cNvSpPr txBox="1"/>
          <p:nvPr/>
        </p:nvSpPr>
        <p:spPr>
          <a:xfrm>
            <a:off x="4978400" y="2870200"/>
            <a:ext cx="6400800" cy="965200"/>
          </a:xfrm>
          <a:prstGeom prst="roundRect">
            <a:avLst>
              <a:gd name="adj" fmla="val 12000"/>
            </a:avLst>
          </a:prstGeom>
          <a:solidFill>
            <a:srgbClr val="1E3350"/>
          </a:solidFill>
          <a:ln w="12700">
            <a:solidFill>
              <a:srgbClr val="2E4A6B"/>
            </a:solidFill>
          </a:ln>
        </p:spPr>
        <p:txBody>
          <a:bodyPr wrap="square" lIns="304800" tIns="0" rIns="127000" bIns="0" anchor="ctr">
            <a:noAutofit/>
          </a:bodyPr>
          <a:lstStyle/>
          <a:p>
            <a:pPr marL="0" indent="0" algn="l">
              <a:buNone/>
            </a:pPr>
            <a:r>
              <a:rPr lang="en-US" sz="1800" b="1" dirty="0">
                <a:solidFill>
                  <a:srgbClr val="F3F1EC"/>
                </a:solidFill>
                <a:latin typeface="Inter" pitchFamily="34" charset="0"/>
                <a:ea typeface="Inter" pitchFamily="34" charset="-122"/>
                <a:cs typeface="Inter" pitchFamily="34" charset="-120"/>
              </a:rPr>
              <a:t>Volume</a:t>
            </a:r>
            <a:r>
              <a:rPr lang="en-US" sz="1600" b="1" dirty="0">
                <a:solidFill>
                  <a:srgbClr val="F3F1EC"/>
                </a:solidFill>
                <a:latin typeface="Inter" pitchFamily="34" charset="0"/>
                <a:ea typeface="Inter" pitchFamily="34" charset="-122"/>
                <a:cs typeface="Inter" pitchFamily="34" charset="-120"/>
              </a:rPr>
              <a:t>   $28,328</a:t>
            </a:r>
          </a:p>
          <a:p>
            <a:pPr marL="0" indent="0" algn="l">
              <a:spcBef>
                <a:spcPts val="300"/>
              </a:spcBef>
              <a:buNone/>
            </a:pPr>
            <a:r>
              <a:rPr lang="en-US" sz="1300" b="0" dirty="0">
                <a:solidFill>
                  <a:srgbClr val="D6D2C8"/>
                </a:solidFill>
                <a:latin typeface="Inter" pitchFamily="34" charset="0"/>
                <a:ea typeface="Inter" pitchFamily="34" charset="-122"/>
                <a:cs typeface="Inter" pitchFamily="34" charset="-120"/>
              </a:rPr>
              <a:t>28.3 patients a day against 27.4 planned</a:t>
            </a:r>
          </a:p>
          <a:p>
            <a:pPr marL="0" indent="0" algn="l">
              <a:spcBef>
                <a:spcPts val="100"/>
              </a:spcBef>
              <a:buNone/>
            </a:pPr>
            <a:r>
              <a:rPr lang="en-US" sz="1300" b="0" dirty="0">
                <a:solidFill>
                  <a:srgbClr val="6CC2B4"/>
                </a:solidFill>
                <a:latin typeface="Inter" pitchFamily="34" charset="0"/>
                <a:ea typeface="Inter" pitchFamily="34" charset="-122"/>
                <a:cs typeface="Inter" pitchFamily="34" charset="-120"/>
              </a:rPr>
              <a:t>Owner: strategy and access</a:t>
            </a:r>
          </a:p>
        </p:txBody>
      </p:sp>
      <p:sp>
        <p:nvSpPr>
          <p:cNvPr id="13" name="Card stripe 1"/>
          <p:cNvSpPr txBox="1"/>
          <p:nvPr/>
        </p:nvSpPr>
        <p:spPr>
          <a:xfrm>
            <a:off x="4991100" y="3022600"/>
            <a:ext cx="63500" cy="660400"/>
          </a:xfrm>
          <a:prstGeom prst="rect">
            <a:avLst/>
          </a:prstGeom>
          <a:solidFill>
            <a:srgbClr val="1D7A6E"/>
          </a:solidFill>
          <a:ln>
            <a:noFill/>
          </a:ln>
        </p:spPr>
        <p:txBody>
          <a:bodyPr wrap="square" lIns="0" tIns="0" rIns="0" bIns="0" anchor="t">
            <a:noAutofit/>
          </a:bodyPr>
          <a:lstStyle/>
          <a:p>
            <a:endParaRPr lang="en-US"/>
          </a:p>
        </p:txBody>
      </p:sp>
      <p:sp>
        <p:nvSpPr>
          <p:cNvPr id="14" name="Driver card 2"/>
          <p:cNvSpPr txBox="1"/>
          <p:nvPr/>
        </p:nvSpPr>
        <p:spPr>
          <a:xfrm>
            <a:off x="4978400" y="3962400"/>
            <a:ext cx="6400800" cy="965200"/>
          </a:xfrm>
          <a:prstGeom prst="roundRect">
            <a:avLst>
              <a:gd name="adj" fmla="val 12000"/>
            </a:avLst>
          </a:prstGeom>
          <a:solidFill>
            <a:srgbClr val="1E3350"/>
          </a:solidFill>
          <a:ln w="12700">
            <a:solidFill>
              <a:srgbClr val="2E4A6B"/>
            </a:solidFill>
          </a:ln>
        </p:spPr>
        <p:txBody>
          <a:bodyPr wrap="square" lIns="304800" tIns="0" rIns="127000" bIns="0" anchor="ctr">
            <a:noAutofit/>
          </a:bodyPr>
          <a:lstStyle/>
          <a:p>
            <a:pPr marL="0" indent="0" algn="l">
              <a:buNone/>
            </a:pPr>
            <a:r>
              <a:rPr lang="en-US" sz="1800" b="1" dirty="0">
                <a:solidFill>
                  <a:srgbClr val="F3F1EC"/>
                </a:solidFill>
                <a:latin typeface="Inter" pitchFamily="34" charset="0"/>
                <a:ea typeface="Inter" pitchFamily="34" charset="-122"/>
                <a:cs typeface="Inter" pitchFamily="34" charset="-120"/>
              </a:rPr>
              <a:t>Staffing efficiency</a:t>
            </a:r>
            <a:r>
              <a:rPr lang="en-US" sz="1600" b="1" dirty="0">
                <a:solidFill>
                  <a:srgbClr val="F3F1EC"/>
                </a:solidFill>
                <a:latin typeface="Inter" pitchFamily="34" charset="0"/>
                <a:ea typeface="Inter" pitchFamily="34" charset="-122"/>
                <a:cs typeface="Inter" pitchFamily="34" charset="-120"/>
              </a:rPr>
              <a:t>   $8,673</a:t>
            </a:r>
          </a:p>
          <a:p>
            <a:pPr marL="0" indent="0" algn="l">
              <a:spcBef>
                <a:spcPts val="300"/>
              </a:spcBef>
              <a:buNone/>
            </a:pPr>
            <a:r>
              <a:rPr lang="en-US" sz="1300" b="0" dirty="0">
                <a:solidFill>
                  <a:srgbClr val="D6D2C8"/>
                </a:solidFill>
                <a:latin typeface="Inter" pitchFamily="34" charset="0"/>
                <a:ea typeface="Inter" pitchFamily="34" charset="-122"/>
                <a:cs typeface="Inter" pitchFamily="34" charset="-120"/>
              </a:rPr>
              <a:t>8.58 hours per patient day against a target of 8.50</a:t>
            </a:r>
          </a:p>
          <a:p>
            <a:pPr marL="0" indent="0" algn="l">
              <a:spcBef>
                <a:spcPts val="100"/>
              </a:spcBef>
              <a:buNone/>
            </a:pPr>
            <a:r>
              <a:rPr lang="en-US" sz="1300" b="0" dirty="0">
                <a:solidFill>
                  <a:srgbClr val="6CC2B4"/>
                </a:solidFill>
                <a:latin typeface="Inter" pitchFamily="34" charset="0"/>
                <a:ea typeface="Inter" pitchFamily="34" charset="-122"/>
                <a:cs typeface="Inter" pitchFamily="34" charset="-120"/>
              </a:rPr>
              <a:t>Owner: nursing leadership</a:t>
            </a:r>
          </a:p>
        </p:txBody>
      </p:sp>
      <p:sp>
        <p:nvSpPr>
          <p:cNvPr id="15" name="Card stripe 2"/>
          <p:cNvSpPr txBox="1"/>
          <p:nvPr/>
        </p:nvSpPr>
        <p:spPr>
          <a:xfrm>
            <a:off x="4991100" y="4114800"/>
            <a:ext cx="63500" cy="660400"/>
          </a:xfrm>
          <a:prstGeom prst="rect">
            <a:avLst/>
          </a:prstGeom>
          <a:solidFill>
            <a:srgbClr val="7FB3D5"/>
          </a:solidFill>
          <a:ln>
            <a:noFill/>
          </a:ln>
        </p:spPr>
        <p:txBody>
          <a:bodyPr wrap="square" lIns="0" tIns="0" rIns="0" bIns="0" anchor="t">
            <a:noAutofit/>
          </a:bodyPr>
          <a:lstStyle/>
          <a:p>
            <a:endParaRPr lang="en-US"/>
          </a:p>
        </p:txBody>
      </p:sp>
      <p:sp>
        <p:nvSpPr>
          <p:cNvPr id="16" name="Driver card 3"/>
          <p:cNvSpPr txBox="1"/>
          <p:nvPr/>
        </p:nvSpPr>
        <p:spPr>
          <a:xfrm>
            <a:off x="4978400" y="5054600"/>
            <a:ext cx="6400800" cy="965200"/>
          </a:xfrm>
          <a:prstGeom prst="roundRect">
            <a:avLst>
              <a:gd name="adj" fmla="val 12000"/>
            </a:avLst>
          </a:prstGeom>
          <a:solidFill>
            <a:srgbClr val="1E3350"/>
          </a:solidFill>
          <a:ln w="12700">
            <a:solidFill>
              <a:srgbClr val="2E4A6B"/>
            </a:solidFill>
          </a:ln>
        </p:spPr>
        <p:txBody>
          <a:bodyPr wrap="square" lIns="304800" tIns="0" rIns="127000" bIns="0" anchor="ctr">
            <a:noAutofit/>
          </a:bodyPr>
          <a:lstStyle/>
          <a:p>
            <a:pPr marL="0" indent="0" algn="l">
              <a:buNone/>
            </a:pPr>
            <a:r>
              <a:rPr lang="en-US" sz="1800" b="1" dirty="0">
                <a:solidFill>
                  <a:srgbClr val="F3F1EC"/>
                </a:solidFill>
                <a:latin typeface="Inter" pitchFamily="34" charset="0"/>
                <a:ea typeface="Inter" pitchFamily="34" charset="-122"/>
                <a:cs typeface="Inter" pitchFamily="34" charset="-120"/>
              </a:rPr>
              <a:t>Rate</a:t>
            </a:r>
            <a:r>
              <a:rPr lang="en-US" sz="1600" b="1" dirty="0">
                <a:solidFill>
                  <a:srgbClr val="F3F1EC"/>
                </a:solidFill>
                <a:latin typeface="Inter" pitchFamily="34" charset="0"/>
                <a:ea typeface="Inter" pitchFamily="34" charset="-122"/>
                <a:cs typeface="Inter" pitchFamily="34" charset="-120"/>
              </a:rPr>
              <a:t>   $14,294</a:t>
            </a:r>
          </a:p>
          <a:p>
            <a:pPr marL="0" indent="0" algn="l">
              <a:spcBef>
                <a:spcPts val="300"/>
              </a:spcBef>
              <a:buNone/>
            </a:pPr>
            <a:r>
              <a:rPr lang="en-US" sz="1300" b="0" dirty="0">
                <a:solidFill>
                  <a:srgbClr val="D6D2C8"/>
                </a:solidFill>
                <a:latin typeface="Inter" pitchFamily="34" charset="0"/>
                <a:ea typeface="Inter" pitchFamily="34" charset="-122"/>
                <a:cs typeface="Inter" pitchFamily="34" charset="-120"/>
              </a:rPr>
              <a:t>$42.83 per worked hour against $42.19, from agency and overtime</a:t>
            </a:r>
          </a:p>
          <a:p>
            <a:pPr marL="0" indent="0" algn="l">
              <a:spcBef>
                <a:spcPts val="100"/>
              </a:spcBef>
              <a:buNone/>
            </a:pPr>
            <a:r>
              <a:rPr lang="en-US" sz="1300" b="0" dirty="0">
                <a:solidFill>
                  <a:srgbClr val="6CC2B4"/>
                </a:solidFill>
                <a:latin typeface="Inter" pitchFamily="34" charset="0"/>
                <a:ea typeface="Inter" pitchFamily="34" charset="-122"/>
                <a:cs typeface="Inter" pitchFamily="34" charset="-120"/>
              </a:rPr>
              <a:t>Owner: HR and workforce</a:t>
            </a:r>
          </a:p>
        </p:txBody>
      </p:sp>
      <p:sp>
        <p:nvSpPr>
          <p:cNvPr id="17" name="Card stripe 3"/>
          <p:cNvSpPr txBox="1"/>
          <p:nvPr/>
        </p:nvSpPr>
        <p:spPr>
          <a:xfrm>
            <a:off x="4991100" y="5207000"/>
            <a:ext cx="63500" cy="660400"/>
          </a:xfrm>
          <a:prstGeom prst="rect">
            <a:avLst/>
          </a:prstGeom>
          <a:solidFill>
            <a:srgbClr val="B35716"/>
          </a:solidFill>
          <a:ln>
            <a:noFill/>
          </a:ln>
        </p:spPr>
        <p:txBody>
          <a:bodyPr wrap="square" lIns="0" tIns="0" rIns="0" bIns="0" anchor="t">
            <a:noAutofit/>
          </a:bodyPr>
          <a:lstStyle/>
          <a:p>
            <a:endParaRPr lang="en-US"/>
          </a:p>
        </p:txBody>
      </p:sp>
      <p:sp>
        <p:nvSpPr>
          <p:cNvPr id="18" name="Footer"/>
          <p:cNvSpPr txBox="1"/>
          <p:nvPr/>
        </p:nvSpPr>
        <p:spPr>
          <a:xfrm>
            <a:off x="812800" y="6235700"/>
            <a:ext cx="5588000" cy="241300"/>
          </a:xfrm>
          <a:prstGeom prst="rect">
            <a:avLst/>
          </a:prstGeom>
          <a:noFill/>
          <a:ln>
            <a:noFill/>
          </a:ln>
        </p:spPr>
        <p:txBody>
          <a:bodyPr wrap="square" lIns="0" tIns="0" rIns="0" bIns="0" anchor="t">
            <a:noAutofit/>
          </a:bodyPr>
          <a:lstStyle/>
          <a:p>
            <a:pPr marL="0" indent="0" algn="l">
              <a:buNone/>
            </a:pPr>
            <a:r>
              <a:rPr lang="en-US" sz="1200" b="0" dirty="0">
                <a:solidFill>
                  <a:srgbClr val="A9B1BD"/>
                </a:solidFill>
                <a:latin typeface="Inter" pitchFamily="34" charset="0"/>
                <a:ea typeface="Inter" pitchFamily="34" charset="-122"/>
                <a:cs typeface="Inter" pitchFamily="34" charset="-120"/>
              </a:rPr>
              <a:t>Contoso Health · Synthetic demo data</a:t>
            </a:r>
          </a:p>
        </p:txBody>
      </p:sp>
    </p:spTree>
    <p:extLst>
      <p:ext uri="{BB962C8B-B14F-4D97-AF65-F5344CB8AC3E}">
        <p14:creationId xmlns:p14="http://schemas.microsoft.com/office/powerpoint/2010/main" val="3179127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Hospital-wide, agency labor ran $1.29M over budget</a:t>
            </a:r>
            <a:endParaRPr lang="en-US" sz="3000" dirty="0"/>
          </a:p>
        </p:txBody>
      </p:sp>
      <p:sp>
        <p:nvSpPr>
          <p:cNvPr id="3" name="Shape 1"/>
          <p:cNvSpPr/>
          <p:nvPr/>
        </p:nvSpPr>
        <p:spPr>
          <a:xfrm>
            <a:off x="2055495" y="1590675"/>
            <a:ext cx="8081010" cy="2753360"/>
          </a:xfrm>
          <a:prstGeom prst="roundRect">
            <a:avLst>
              <a:gd name="adj" fmla="val 3575"/>
            </a:avLst>
          </a:prstGeom>
          <a:solidFill>
            <a:srgbClr val="1E3350"/>
          </a:solidFill>
          <a:ln w="6350">
            <a:solidFill>
              <a:srgbClr val="2E4A6B"/>
            </a:solidFill>
            <a:prstDash val="solid"/>
          </a:ln>
        </p:spPr>
        <p:txBody>
          <a:bodyPr/>
          <a:lstStyle/>
          <a:p>
            <a:endParaRPr lang="en-US"/>
          </a:p>
        </p:txBody>
      </p:sp>
      <p:pic>
        <p:nvPicPr>
          <p:cNvPr id="4" name="Image 0" descr="Power BI matrix of agency FTE and agency cost, budget against actual, by department, January to August 2026"/>
          <p:cNvPicPr>
            <a:picLocks noChangeAspect="1"/>
          </p:cNvPicPr>
          <p:nvPr/>
        </p:nvPicPr>
        <p:blipFill>
          <a:blip r:embed="rId3"/>
          <a:srcRect l="-55" r="-55"/>
          <a:stretch/>
        </p:blipFill>
        <p:spPr>
          <a:xfrm>
            <a:off x="2159000" y="1694180"/>
            <a:ext cx="7874000" cy="2546350"/>
          </a:xfrm>
          <a:prstGeom prst="roundRect">
            <a:avLst>
              <a:gd name="adj" fmla="val 1995"/>
            </a:avLst>
          </a:prstGeom>
        </p:spPr>
      </p:pic>
      <p:sp>
        <p:nvSpPr>
          <p:cNvPr id="5" name="Shape 2"/>
          <p:cNvSpPr/>
          <p:nvPr/>
        </p:nvSpPr>
        <p:spPr>
          <a:xfrm>
            <a:off x="815975" y="4705986"/>
            <a:ext cx="3397250" cy="1118870"/>
          </a:xfrm>
          <a:prstGeom prst="roundRect">
            <a:avLst>
              <a:gd name="adj" fmla="val 8797"/>
            </a:avLst>
          </a:prstGeom>
          <a:solidFill>
            <a:srgbClr val="1E3350"/>
          </a:solidFill>
          <a:ln w="6350">
            <a:solidFill>
              <a:srgbClr val="2E4A6B"/>
            </a:solidFill>
            <a:prstDash val="solid"/>
          </a:ln>
        </p:spPr>
        <p:txBody>
          <a:bodyPr/>
          <a:lstStyle/>
          <a:p>
            <a:endParaRPr lang="en-US"/>
          </a:p>
        </p:txBody>
      </p:sp>
      <p:sp>
        <p:nvSpPr>
          <p:cNvPr id="6" name="Text 3"/>
          <p:cNvSpPr/>
          <p:nvPr/>
        </p:nvSpPr>
        <p:spPr>
          <a:xfrm>
            <a:off x="1021080" y="4885691"/>
            <a:ext cx="3076651"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E0884A"/>
                </a:solidFill>
                <a:latin typeface="Inter" pitchFamily="34" charset="0"/>
                <a:ea typeface="Inter" pitchFamily="34" charset="-122"/>
                <a:cs typeface="Inter" pitchFamily="34" charset="-120"/>
              </a:rPr>
              <a:t>18.05 → 30.04 agency FTEs</a:t>
            </a:r>
            <a:endParaRPr lang="en-US" sz="1400" dirty="0"/>
          </a:p>
        </p:txBody>
      </p:sp>
      <p:sp>
        <p:nvSpPr>
          <p:cNvPr id="7" name="Text 4"/>
          <p:cNvSpPr/>
          <p:nvPr/>
        </p:nvSpPr>
        <p:spPr>
          <a:xfrm>
            <a:off x="1021080" y="5218430"/>
            <a:ext cx="30766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Budgeted against actual, Jan–Aug 2026</a:t>
            </a:r>
            <a:endParaRPr lang="en-US" sz="1200" dirty="0"/>
          </a:p>
        </p:txBody>
      </p:sp>
      <p:sp>
        <p:nvSpPr>
          <p:cNvPr id="8" name="Shape 5"/>
          <p:cNvSpPr/>
          <p:nvPr/>
        </p:nvSpPr>
        <p:spPr>
          <a:xfrm>
            <a:off x="4397375" y="4705986"/>
            <a:ext cx="3397250" cy="1118870"/>
          </a:xfrm>
          <a:prstGeom prst="roundRect">
            <a:avLst>
              <a:gd name="adj" fmla="val 8797"/>
            </a:avLst>
          </a:prstGeom>
          <a:solidFill>
            <a:srgbClr val="1E3350"/>
          </a:solidFill>
          <a:ln w="6350">
            <a:solidFill>
              <a:srgbClr val="2E4A6B"/>
            </a:solidFill>
            <a:prstDash val="solid"/>
          </a:ln>
        </p:spPr>
        <p:txBody>
          <a:bodyPr/>
          <a:lstStyle/>
          <a:p>
            <a:endParaRPr lang="en-US"/>
          </a:p>
        </p:txBody>
      </p:sp>
      <p:sp>
        <p:nvSpPr>
          <p:cNvPr id="9" name="Text 6"/>
          <p:cNvSpPr/>
          <p:nvPr/>
        </p:nvSpPr>
        <p:spPr>
          <a:xfrm>
            <a:off x="4602480" y="4885691"/>
            <a:ext cx="3076651"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E0884A"/>
                </a:solidFill>
                <a:latin typeface="Inter" pitchFamily="34" charset="0"/>
                <a:ea typeface="Inter" pitchFamily="34" charset="-122"/>
                <a:cs typeface="Inter" pitchFamily="34" charset="-120"/>
              </a:rPr>
              <a:t>$1.94M → $3.23M</a:t>
            </a:r>
            <a:endParaRPr lang="en-US" sz="1400" dirty="0"/>
          </a:p>
        </p:txBody>
      </p:sp>
      <p:sp>
        <p:nvSpPr>
          <p:cNvPr id="10" name="Text 7"/>
          <p:cNvSpPr/>
          <p:nvPr/>
        </p:nvSpPr>
        <p:spPr>
          <a:xfrm>
            <a:off x="4602480" y="5218430"/>
            <a:ext cx="30766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Agency cost, 66% over plan</a:t>
            </a:r>
            <a:endParaRPr lang="en-US" sz="1200" dirty="0"/>
          </a:p>
        </p:txBody>
      </p:sp>
      <p:sp>
        <p:nvSpPr>
          <p:cNvPr id="11" name="Shape 8"/>
          <p:cNvSpPr/>
          <p:nvPr/>
        </p:nvSpPr>
        <p:spPr>
          <a:xfrm>
            <a:off x="7978775" y="4705986"/>
            <a:ext cx="3397250" cy="1118870"/>
          </a:xfrm>
          <a:prstGeom prst="roundRect">
            <a:avLst>
              <a:gd name="adj" fmla="val 8797"/>
            </a:avLst>
          </a:prstGeom>
          <a:solidFill>
            <a:srgbClr val="1E3350"/>
          </a:solidFill>
          <a:ln w="6350">
            <a:solidFill>
              <a:srgbClr val="2E4A6B"/>
            </a:solidFill>
            <a:prstDash val="solid"/>
          </a:ln>
        </p:spPr>
        <p:txBody>
          <a:bodyPr/>
          <a:lstStyle/>
          <a:p>
            <a:endParaRPr lang="en-US"/>
          </a:p>
        </p:txBody>
      </p:sp>
      <p:sp>
        <p:nvSpPr>
          <p:cNvPr id="12" name="Text 9"/>
          <p:cNvSpPr/>
          <p:nvPr/>
        </p:nvSpPr>
        <p:spPr>
          <a:xfrm>
            <a:off x="8183880" y="4885691"/>
            <a:ext cx="3076651"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Every unit over plan</a:t>
            </a:r>
            <a:endParaRPr lang="en-US" sz="1400" dirty="0"/>
          </a:p>
        </p:txBody>
      </p:sp>
      <p:sp>
        <p:nvSpPr>
          <p:cNvPr id="13" name="Text 10"/>
          <p:cNvSpPr/>
          <p:nvPr/>
        </p:nvSpPr>
        <p:spPr>
          <a:xfrm>
            <a:off x="8183880" y="5218430"/>
            <a:ext cx="307665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Surgical Services, ICU and the ED lead the overrun</a:t>
            </a:r>
            <a:endParaRPr lang="en-US" sz="1200" dirty="0"/>
          </a:p>
        </p:txBody>
      </p:sp>
      <p:sp>
        <p:nvSpPr>
          <p:cNvPr id="14" name="Text 11"/>
          <p:cNvSpPr/>
          <p:nvPr/>
        </p:nvSpPr>
        <p:spPr>
          <a:xfrm>
            <a:off x="812800" y="6238241"/>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15"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AGENCY LABOR · HOSPITAL-WIDE · JAN–AUG 2026</a:t>
            </a:r>
          </a:p>
        </p:txBody>
      </p:sp>
    </p:spTree>
    <p:extLst>
      <p:ext uri="{BB962C8B-B14F-4D97-AF65-F5344CB8AC3E}">
        <p14:creationId xmlns:p14="http://schemas.microsoft.com/office/powerpoint/2010/main" val="536016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Forecast the patients, and let everything else follow</a:t>
            </a:r>
            <a:endParaRPr lang="en-US" sz="3000" dirty="0"/>
          </a:p>
        </p:txBody>
      </p:sp>
      <p:sp>
        <p:nvSpPr>
          <p:cNvPr id="3" name="Shape 1"/>
          <p:cNvSpPr/>
          <p:nvPr/>
        </p:nvSpPr>
        <p:spPr>
          <a:xfrm>
            <a:off x="815975" y="1778000"/>
            <a:ext cx="2139950" cy="2540000"/>
          </a:xfrm>
          <a:prstGeom prst="roundRect">
            <a:avLst>
              <a:gd name="adj" fmla="val 5912"/>
            </a:avLst>
          </a:prstGeom>
          <a:solidFill>
            <a:srgbClr val="1E3350"/>
          </a:solidFill>
          <a:ln w="6350">
            <a:solidFill>
              <a:srgbClr val="2E4A6B"/>
            </a:solidFill>
            <a:prstDash val="solid"/>
          </a:ln>
        </p:spPr>
        <p:txBody>
          <a:bodyPr/>
          <a:lstStyle/>
          <a:p>
            <a:endParaRPr lang="en-US"/>
          </a:p>
        </p:txBody>
      </p:sp>
      <p:sp>
        <p:nvSpPr>
          <p:cNvPr id="4" name="Text 2"/>
          <p:cNvSpPr/>
          <p:nvPr/>
        </p:nvSpPr>
        <p:spPr>
          <a:xfrm>
            <a:off x="1071880" y="2057400"/>
            <a:ext cx="1678940" cy="60960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C"/>
                </a:solidFill>
                <a:latin typeface="Inter" pitchFamily="34" charset="0"/>
                <a:ea typeface="Inter" pitchFamily="34" charset="-122"/>
                <a:cs typeface="Inter" pitchFamily="34" charset="-120"/>
              </a:rPr>
              <a:t>Patient days</a:t>
            </a:r>
            <a:endParaRPr lang="en-US" sz="1800" dirty="0"/>
          </a:p>
        </p:txBody>
      </p:sp>
      <p:sp>
        <p:nvSpPr>
          <p:cNvPr id="5" name="Text 3"/>
          <p:cNvSpPr/>
          <p:nvPr/>
        </p:nvSpPr>
        <p:spPr>
          <a:xfrm>
            <a:off x="1071880" y="2717800"/>
            <a:ext cx="1678940" cy="10160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5CCD6"/>
                </a:solidFill>
                <a:latin typeface="Inter" pitchFamily="34" charset="0"/>
                <a:ea typeface="Inter" pitchFamily="34" charset="-122"/>
                <a:cs typeface="Inter" pitchFamily="34" charset="-120"/>
              </a:rPr>
              <a:t>Predicted from 32 months of history</a:t>
            </a:r>
            <a:endParaRPr lang="en-US" sz="1300" dirty="0"/>
          </a:p>
        </p:txBody>
      </p:sp>
      <p:sp>
        <p:nvSpPr>
          <p:cNvPr id="6" name="Text 4"/>
          <p:cNvSpPr/>
          <p:nvPr/>
        </p:nvSpPr>
        <p:spPr>
          <a:xfrm>
            <a:off x="1066800" y="3835400"/>
            <a:ext cx="1676400" cy="25400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CC2B4"/>
                </a:solidFill>
                <a:latin typeface="Inter" pitchFamily="34" charset="0"/>
                <a:ea typeface="Inter" pitchFamily="34" charset="-122"/>
                <a:cs typeface="Inter" pitchFamily="34" charset="-120"/>
              </a:rPr>
              <a:t>Owner: strategy</a:t>
            </a:r>
            <a:endParaRPr lang="en-US" sz="1200" dirty="0"/>
          </a:p>
        </p:txBody>
      </p:sp>
      <p:pic>
        <p:nvPicPr>
          <p:cNvPr id="7" name="Image 0" descr="arrow-right"/>
          <p:cNvPicPr>
            <a:picLocks noChangeAspect="1"/>
          </p:cNvPicPr>
          <p:nvPr/>
        </p:nvPicPr>
        <p:blipFill>
          <a:blip r:embed="rId3"/>
          <a:srcRect/>
          <a:stretch/>
        </p:blipFill>
        <p:spPr>
          <a:xfrm>
            <a:off x="3111500" y="2959100"/>
            <a:ext cx="355600" cy="177800"/>
          </a:xfrm>
          <a:prstGeom prst="rect">
            <a:avLst/>
          </a:prstGeom>
        </p:spPr>
      </p:pic>
      <p:sp>
        <p:nvSpPr>
          <p:cNvPr id="8" name="Shape 5"/>
          <p:cNvSpPr/>
          <p:nvPr/>
        </p:nvSpPr>
        <p:spPr>
          <a:xfrm>
            <a:off x="3622675" y="1778000"/>
            <a:ext cx="2139950" cy="2540000"/>
          </a:xfrm>
          <a:prstGeom prst="roundRect">
            <a:avLst>
              <a:gd name="adj" fmla="val 5912"/>
            </a:avLst>
          </a:prstGeom>
          <a:solidFill>
            <a:srgbClr val="1E3350"/>
          </a:solidFill>
          <a:ln w="6350">
            <a:solidFill>
              <a:srgbClr val="2E4A6B"/>
            </a:solidFill>
            <a:prstDash val="solid"/>
          </a:ln>
        </p:spPr>
        <p:txBody>
          <a:bodyPr/>
          <a:lstStyle/>
          <a:p>
            <a:endParaRPr lang="en-US"/>
          </a:p>
        </p:txBody>
      </p:sp>
      <p:sp>
        <p:nvSpPr>
          <p:cNvPr id="9" name="Text 6"/>
          <p:cNvSpPr/>
          <p:nvPr/>
        </p:nvSpPr>
        <p:spPr>
          <a:xfrm>
            <a:off x="3878580" y="2057400"/>
            <a:ext cx="1678940" cy="60960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C"/>
                </a:solidFill>
                <a:latin typeface="Inter" pitchFamily="34" charset="0"/>
                <a:ea typeface="Inter" pitchFamily="34" charset="-122"/>
                <a:cs typeface="Inter" pitchFamily="34" charset="-120"/>
              </a:rPr>
              <a:t>Nursing hours</a:t>
            </a:r>
            <a:endParaRPr lang="en-US" sz="1800" dirty="0"/>
          </a:p>
        </p:txBody>
      </p:sp>
      <p:sp>
        <p:nvSpPr>
          <p:cNvPr id="10" name="Text 7"/>
          <p:cNvSpPr/>
          <p:nvPr/>
        </p:nvSpPr>
        <p:spPr>
          <a:xfrm>
            <a:off x="3878580" y="2717800"/>
            <a:ext cx="1678940" cy="10160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5CCD6"/>
                </a:solidFill>
                <a:latin typeface="Inter" pitchFamily="34" charset="0"/>
                <a:ea typeface="Inter" pitchFamily="34" charset="-122"/>
                <a:cs typeface="Inter" pitchFamily="34" charset="-120"/>
              </a:rPr>
              <a:t>× hours each patient day needs (HPPD)</a:t>
            </a:r>
            <a:endParaRPr lang="en-US" sz="1300" dirty="0"/>
          </a:p>
        </p:txBody>
      </p:sp>
      <p:sp>
        <p:nvSpPr>
          <p:cNvPr id="11" name="Text 8"/>
          <p:cNvSpPr/>
          <p:nvPr/>
        </p:nvSpPr>
        <p:spPr>
          <a:xfrm>
            <a:off x="3878580" y="3835400"/>
            <a:ext cx="1678940" cy="25400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CC2B4"/>
                </a:solidFill>
                <a:latin typeface="Inter" pitchFamily="34" charset="0"/>
                <a:ea typeface="Inter" pitchFamily="34" charset="-122"/>
                <a:cs typeface="Inter" pitchFamily="34" charset="-120"/>
              </a:rPr>
              <a:t>Owner: nursing</a:t>
            </a:r>
            <a:endParaRPr lang="en-US" sz="1200" dirty="0"/>
          </a:p>
        </p:txBody>
      </p:sp>
      <p:pic>
        <p:nvPicPr>
          <p:cNvPr id="12" name="Image 1" descr="arrow-right"/>
          <p:cNvPicPr>
            <a:picLocks noChangeAspect="1"/>
          </p:cNvPicPr>
          <p:nvPr/>
        </p:nvPicPr>
        <p:blipFill>
          <a:blip r:embed="rId3"/>
          <a:srcRect/>
          <a:stretch/>
        </p:blipFill>
        <p:spPr>
          <a:xfrm>
            <a:off x="5918200" y="2959100"/>
            <a:ext cx="355600" cy="177800"/>
          </a:xfrm>
          <a:prstGeom prst="rect">
            <a:avLst/>
          </a:prstGeom>
        </p:spPr>
      </p:pic>
      <p:sp>
        <p:nvSpPr>
          <p:cNvPr id="13" name="Shape 9"/>
          <p:cNvSpPr/>
          <p:nvPr/>
        </p:nvSpPr>
        <p:spPr>
          <a:xfrm>
            <a:off x="6429375" y="1778000"/>
            <a:ext cx="2139950" cy="2540000"/>
          </a:xfrm>
          <a:prstGeom prst="roundRect">
            <a:avLst>
              <a:gd name="adj" fmla="val 5912"/>
            </a:avLst>
          </a:prstGeom>
          <a:solidFill>
            <a:srgbClr val="1E3350"/>
          </a:solidFill>
          <a:ln w="6350">
            <a:solidFill>
              <a:srgbClr val="2E4A6B"/>
            </a:solidFill>
            <a:prstDash val="solid"/>
          </a:ln>
        </p:spPr>
        <p:txBody>
          <a:bodyPr/>
          <a:lstStyle/>
          <a:p>
            <a:endParaRPr lang="en-US"/>
          </a:p>
        </p:txBody>
      </p:sp>
      <p:sp>
        <p:nvSpPr>
          <p:cNvPr id="14" name="Text 10"/>
          <p:cNvSpPr/>
          <p:nvPr/>
        </p:nvSpPr>
        <p:spPr>
          <a:xfrm>
            <a:off x="6685280" y="2057400"/>
            <a:ext cx="1678940" cy="60960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C"/>
                </a:solidFill>
                <a:latin typeface="Inter" pitchFamily="34" charset="0"/>
                <a:ea typeface="Inter" pitchFamily="34" charset="-122"/>
                <a:cs typeface="Inter" pitchFamily="34" charset="-120"/>
              </a:rPr>
              <a:t>Paid FTEs</a:t>
            </a:r>
            <a:endParaRPr lang="en-US" sz="1800" dirty="0"/>
          </a:p>
        </p:txBody>
      </p:sp>
      <p:sp>
        <p:nvSpPr>
          <p:cNvPr id="15" name="Text 11"/>
          <p:cNvSpPr/>
          <p:nvPr/>
        </p:nvSpPr>
        <p:spPr>
          <a:xfrm>
            <a:off x="6685280" y="2717800"/>
            <a:ext cx="1678940" cy="10160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5CCD6"/>
                </a:solidFill>
                <a:latin typeface="Inter" pitchFamily="34" charset="0"/>
                <a:ea typeface="Inter" pitchFamily="34" charset="-122"/>
                <a:cs typeface="Inter" pitchFamily="34" charset="-120"/>
              </a:rPr>
              <a:t>÷ paid hours per nurse</a:t>
            </a:r>
            <a:endParaRPr lang="en-US" sz="1300" dirty="0"/>
          </a:p>
        </p:txBody>
      </p:sp>
      <p:sp>
        <p:nvSpPr>
          <p:cNvPr id="16" name="Text 12"/>
          <p:cNvSpPr/>
          <p:nvPr/>
        </p:nvSpPr>
        <p:spPr>
          <a:xfrm>
            <a:off x="6685280" y="3835400"/>
            <a:ext cx="1678940" cy="25400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CC2B4"/>
                </a:solidFill>
                <a:latin typeface="Inter" pitchFamily="34" charset="0"/>
                <a:ea typeface="Inter" pitchFamily="34" charset="-122"/>
                <a:cs typeface="Inter" pitchFamily="34" charset="-120"/>
              </a:rPr>
              <a:t>Owner: HR</a:t>
            </a:r>
            <a:endParaRPr lang="en-US" sz="1200" dirty="0"/>
          </a:p>
        </p:txBody>
      </p:sp>
      <p:pic>
        <p:nvPicPr>
          <p:cNvPr id="17" name="Image 2" descr="arrow-right"/>
          <p:cNvPicPr>
            <a:picLocks noChangeAspect="1"/>
          </p:cNvPicPr>
          <p:nvPr/>
        </p:nvPicPr>
        <p:blipFill>
          <a:blip r:embed="rId3"/>
          <a:srcRect/>
          <a:stretch/>
        </p:blipFill>
        <p:spPr>
          <a:xfrm>
            <a:off x="8724900" y="2959100"/>
            <a:ext cx="355600" cy="177800"/>
          </a:xfrm>
          <a:prstGeom prst="rect">
            <a:avLst/>
          </a:prstGeom>
        </p:spPr>
      </p:pic>
      <p:sp>
        <p:nvSpPr>
          <p:cNvPr id="18" name="Shape 13"/>
          <p:cNvSpPr/>
          <p:nvPr/>
        </p:nvSpPr>
        <p:spPr>
          <a:xfrm>
            <a:off x="9236075" y="1778000"/>
            <a:ext cx="2139950" cy="2540000"/>
          </a:xfrm>
          <a:prstGeom prst="roundRect">
            <a:avLst>
              <a:gd name="adj" fmla="val 5912"/>
            </a:avLst>
          </a:prstGeom>
          <a:solidFill>
            <a:srgbClr val="1E3350"/>
          </a:solidFill>
          <a:ln w="6350">
            <a:solidFill>
              <a:srgbClr val="2E4A6B"/>
            </a:solidFill>
            <a:prstDash val="solid"/>
          </a:ln>
        </p:spPr>
        <p:txBody>
          <a:bodyPr/>
          <a:lstStyle/>
          <a:p>
            <a:endParaRPr lang="en-US"/>
          </a:p>
        </p:txBody>
      </p:sp>
      <p:sp>
        <p:nvSpPr>
          <p:cNvPr id="19" name="Text 14"/>
          <p:cNvSpPr/>
          <p:nvPr/>
        </p:nvSpPr>
        <p:spPr>
          <a:xfrm>
            <a:off x="9491980" y="2057400"/>
            <a:ext cx="1678940" cy="60960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C"/>
                </a:solidFill>
                <a:latin typeface="Inter" pitchFamily="34" charset="0"/>
                <a:ea typeface="Inter" pitchFamily="34" charset="-122"/>
                <a:cs typeface="Inter" pitchFamily="34" charset="-120"/>
              </a:rPr>
              <a:t>Labor cost</a:t>
            </a:r>
            <a:endParaRPr lang="en-US" sz="1800" dirty="0"/>
          </a:p>
        </p:txBody>
      </p:sp>
      <p:sp>
        <p:nvSpPr>
          <p:cNvPr id="20" name="Text 15"/>
          <p:cNvSpPr/>
          <p:nvPr/>
        </p:nvSpPr>
        <p:spPr>
          <a:xfrm>
            <a:off x="9491980" y="2717800"/>
            <a:ext cx="1678940" cy="10160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5CCD6"/>
                </a:solidFill>
                <a:latin typeface="Inter" pitchFamily="34" charset="0"/>
                <a:ea typeface="Inter" pitchFamily="34" charset="-122"/>
                <a:cs typeface="Inter" pitchFamily="34" charset="-120"/>
              </a:rPr>
              <a:t>× wage rate and benefits</a:t>
            </a:r>
            <a:endParaRPr lang="en-US" sz="1300" dirty="0"/>
          </a:p>
        </p:txBody>
      </p:sp>
      <p:sp>
        <p:nvSpPr>
          <p:cNvPr id="21" name="Text 16"/>
          <p:cNvSpPr/>
          <p:nvPr/>
        </p:nvSpPr>
        <p:spPr>
          <a:xfrm>
            <a:off x="9491980" y="3835400"/>
            <a:ext cx="1678940" cy="25400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CC2B4"/>
                </a:solidFill>
                <a:latin typeface="Inter" pitchFamily="34" charset="0"/>
                <a:ea typeface="Inter" pitchFamily="34" charset="-122"/>
                <a:cs typeface="Inter" pitchFamily="34" charset="-120"/>
              </a:rPr>
              <a:t>Owner: finance</a:t>
            </a:r>
            <a:endParaRPr lang="en-US" sz="1200" dirty="0"/>
          </a:p>
        </p:txBody>
      </p:sp>
      <p:sp>
        <p:nvSpPr>
          <p:cNvPr id="25" name="Insight band"/>
          <p:cNvSpPr/>
          <p:nvPr/>
        </p:nvSpPr>
        <p:spPr>
          <a:xfrm>
            <a:off x="812800" y="4673600"/>
            <a:ext cx="10566400" cy="1117600"/>
          </a:xfrm>
          <a:prstGeom prst="rect">
            <a:avLst/>
          </a:prstGeom>
          <a:solidFill>
            <a:srgbClr val="173A47"/>
          </a:solidFill>
          <a:ln>
            <a:noFill/>
          </a:ln>
        </p:spPr>
        <p:txBody>
          <a:bodyPr/>
          <a:lstStyle/>
          <a:p>
            <a:endParaRPr lang="en-US"/>
          </a:p>
        </p:txBody>
      </p:sp>
      <p:sp>
        <p:nvSpPr>
          <p:cNvPr id="26" name="Insight bar"/>
          <p:cNvSpPr/>
          <p:nvPr/>
        </p:nvSpPr>
        <p:spPr>
          <a:xfrm>
            <a:off x="812800" y="4673600"/>
            <a:ext cx="50800" cy="1117600"/>
          </a:xfrm>
          <a:prstGeom prst="rect">
            <a:avLst/>
          </a:prstGeom>
          <a:solidFill>
            <a:srgbClr val="6CC2B4"/>
          </a:solidFill>
          <a:ln>
            <a:noFill/>
          </a:ln>
        </p:spPr>
        <p:txBody>
          <a:bodyPr/>
          <a:lstStyle/>
          <a:p>
            <a:endParaRPr lang="en-US"/>
          </a:p>
        </p:txBody>
      </p:sp>
      <p:sp>
        <p:nvSpPr>
          <p:cNvPr id="22" name="Text 17"/>
          <p:cNvSpPr/>
          <p:nvPr/>
        </p:nvSpPr>
        <p:spPr>
          <a:xfrm>
            <a:off x="1168400" y="4826000"/>
            <a:ext cx="10033000" cy="812800"/>
          </a:xfrm>
          <a:prstGeom prst="rect">
            <a:avLst/>
          </a:prstGeom>
          <a:noFill/>
          <a:ln/>
        </p:spPr>
        <p:txBody>
          <a:bodyPr wrap="square" lIns="0" tIns="0" rIns="0" bIns="0" rtlCol="0" anchor="ctr">
            <a:normAutofit/>
          </a:bodyPr>
          <a:lstStyle/>
          <a:p>
            <a:pPr marL="0" indent="0" algn="l">
              <a:lnSpc>
                <a:spcPts val="2240"/>
              </a:lnSpc>
              <a:buNone/>
            </a:pPr>
            <a:r>
              <a:rPr lang="en-US" sz="1600" dirty="0">
                <a:solidFill>
                  <a:srgbClr val="F3F1EC"/>
                </a:solidFill>
                <a:latin typeface="Inter" pitchFamily="34" charset="0"/>
                <a:ea typeface="Inter" pitchFamily="34" charset="-122"/>
                <a:cs typeface="Inter" pitchFamily="34" charset="-120"/>
              </a:rPr>
              <a:t>Each link is a simple rule that one team owns. Change the volume forecast, and every downstream number recalculates for every unit.</a:t>
            </a:r>
            <a:endParaRPr lang="en-US" sz="1600" dirty="0"/>
          </a:p>
        </p:txBody>
      </p:sp>
      <p:sp>
        <p:nvSpPr>
          <p:cNvPr id="23" name="Text 18"/>
          <p:cNvSpPr/>
          <p:nvPr/>
        </p:nvSpPr>
        <p:spPr>
          <a:xfrm>
            <a:off x="812800" y="6238239"/>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24"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THE APPROACH · DRIVER-BASED PLANNING</a:t>
            </a:r>
          </a:p>
        </p:txBody>
      </p:sp>
    </p:spTree>
    <p:extLst>
      <p:ext uri="{BB962C8B-B14F-4D97-AF65-F5344CB8AC3E}">
        <p14:creationId xmlns:p14="http://schemas.microsoft.com/office/powerpoint/2010/main" val="1451019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One Fabric platform, from source data to plan</a:t>
            </a:r>
            <a:endParaRPr lang="en-US" sz="3000" dirty="0"/>
          </a:p>
        </p:txBody>
      </p:sp>
      <p:sp>
        <p:nvSpPr>
          <p:cNvPr id="3" name="Shape 1"/>
          <p:cNvSpPr/>
          <p:nvPr/>
        </p:nvSpPr>
        <p:spPr>
          <a:xfrm>
            <a:off x="815975" y="1778000"/>
            <a:ext cx="1741170" cy="2540000"/>
          </a:xfrm>
          <a:prstGeom prst="roundRect">
            <a:avLst>
              <a:gd name="adj" fmla="val 6215"/>
            </a:avLst>
          </a:prstGeom>
          <a:solidFill>
            <a:srgbClr val="1E3350"/>
          </a:solidFill>
          <a:ln w="6350">
            <a:solidFill>
              <a:srgbClr val="2E4A6B"/>
            </a:solidFill>
            <a:prstDash val="solid"/>
          </a:ln>
        </p:spPr>
        <p:txBody>
          <a:bodyPr/>
          <a:lstStyle/>
          <a:p>
            <a:endParaRPr lang="en-US"/>
          </a:p>
        </p:txBody>
      </p:sp>
      <p:sp>
        <p:nvSpPr>
          <p:cNvPr id="4" name="Text 2"/>
          <p:cNvSpPr/>
          <p:nvPr/>
        </p:nvSpPr>
        <p:spPr>
          <a:xfrm>
            <a:off x="1021080" y="2057400"/>
            <a:ext cx="1381760" cy="609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F1EC"/>
                </a:solidFill>
                <a:latin typeface="Inter" pitchFamily="34" charset="0"/>
                <a:ea typeface="Inter" pitchFamily="34" charset="-122"/>
                <a:cs typeface="Inter" pitchFamily="34" charset="-120"/>
              </a:rPr>
              <a:t>Source data</a:t>
            </a:r>
            <a:endParaRPr lang="en-US" sz="1500" dirty="0"/>
          </a:p>
        </p:txBody>
      </p:sp>
      <p:sp>
        <p:nvSpPr>
          <p:cNvPr id="5" name="Text 3"/>
          <p:cNvSpPr/>
          <p:nvPr/>
        </p:nvSpPr>
        <p:spPr>
          <a:xfrm>
            <a:off x="1021080" y="2717800"/>
            <a:ext cx="1381760" cy="101600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C5CCD6"/>
                </a:solidFill>
                <a:latin typeface="Inter" pitchFamily="34" charset="0"/>
                <a:ea typeface="Inter" pitchFamily="34" charset="-122"/>
                <a:cs typeface="Inter" pitchFamily="34" charset="-120"/>
              </a:rPr>
              <a:t>Census, timekeeping, payroll, general ledger</a:t>
            </a:r>
            <a:endParaRPr lang="en-US" sz="1200" dirty="0"/>
          </a:p>
        </p:txBody>
      </p:sp>
      <p:pic>
        <p:nvPicPr>
          <p:cNvPr id="6" name="Image 0" descr="arrow-right"/>
          <p:cNvPicPr>
            <a:picLocks noChangeAspect="1"/>
          </p:cNvPicPr>
          <p:nvPr/>
        </p:nvPicPr>
        <p:blipFill>
          <a:blip r:embed="rId3"/>
          <a:srcRect/>
          <a:stretch/>
        </p:blipFill>
        <p:spPr>
          <a:xfrm>
            <a:off x="2661920" y="2978150"/>
            <a:ext cx="254000" cy="139700"/>
          </a:xfrm>
          <a:prstGeom prst="rect">
            <a:avLst/>
          </a:prstGeom>
        </p:spPr>
      </p:pic>
      <p:sp>
        <p:nvSpPr>
          <p:cNvPr id="7" name="Shape 4"/>
          <p:cNvSpPr/>
          <p:nvPr/>
        </p:nvSpPr>
        <p:spPr>
          <a:xfrm>
            <a:off x="3020695" y="1778000"/>
            <a:ext cx="1741170" cy="2540000"/>
          </a:xfrm>
          <a:prstGeom prst="roundRect">
            <a:avLst>
              <a:gd name="adj" fmla="val 6215"/>
            </a:avLst>
          </a:prstGeom>
          <a:solidFill>
            <a:srgbClr val="1E3350"/>
          </a:solidFill>
          <a:ln w="6350">
            <a:solidFill>
              <a:srgbClr val="2E4A6B"/>
            </a:solidFill>
            <a:prstDash val="solid"/>
          </a:ln>
        </p:spPr>
        <p:txBody>
          <a:bodyPr/>
          <a:lstStyle/>
          <a:p>
            <a:endParaRPr lang="en-US"/>
          </a:p>
        </p:txBody>
      </p:sp>
      <p:sp>
        <p:nvSpPr>
          <p:cNvPr id="8" name="Text 5"/>
          <p:cNvSpPr/>
          <p:nvPr/>
        </p:nvSpPr>
        <p:spPr>
          <a:xfrm>
            <a:off x="3225800" y="2057400"/>
            <a:ext cx="1381760" cy="609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F1EC"/>
                </a:solidFill>
                <a:latin typeface="Inter" pitchFamily="34" charset="0"/>
                <a:ea typeface="Inter" pitchFamily="34" charset="-122"/>
                <a:cs typeface="Inter" pitchFamily="34" charset="-120"/>
              </a:rPr>
              <a:t>Lakehouse</a:t>
            </a:r>
            <a:endParaRPr lang="en-US" sz="1500" dirty="0"/>
          </a:p>
        </p:txBody>
      </p:sp>
      <p:sp>
        <p:nvSpPr>
          <p:cNvPr id="9" name="Text 6"/>
          <p:cNvSpPr/>
          <p:nvPr/>
        </p:nvSpPr>
        <p:spPr>
          <a:xfrm>
            <a:off x="3225800" y="2717800"/>
            <a:ext cx="1381760" cy="101600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C5CCD6"/>
                </a:solidFill>
                <a:latin typeface="Inter" pitchFamily="34" charset="0"/>
                <a:ea typeface="Inter" pitchFamily="34" charset="-122"/>
                <a:cs typeface="Inter" pitchFamily="34" charset="-120"/>
              </a:rPr>
              <a:t>Delta tables in OneLake</a:t>
            </a:r>
            <a:endParaRPr lang="en-US" sz="1200" dirty="0"/>
          </a:p>
        </p:txBody>
      </p:sp>
      <p:pic>
        <p:nvPicPr>
          <p:cNvPr id="10" name="Image 1" descr="arrow-right"/>
          <p:cNvPicPr>
            <a:picLocks noChangeAspect="1"/>
          </p:cNvPicPr>
          <p:nvPr/>
        </p:nvPicPr>
        <p:blipFill>
          <a:blip r:embed="rId3"/>
          <a:srcRect/>
          <a:stretch/>
        </p:blipFill>
        <p:spPr>
          <a:xfrm>
            <a:off x="4866640" y="2978150"/>
            <a:ext cx="254000" cy="139700"/>
          </a:xfrm>
          <a:prstGeom prst="rect">
            <a:avLst/>
          </a:prstGeom>
        </p:spPr>
      </p:pic>
      <p:sp>
        <p:nvSpPr>
          <p:cNvPr id="11" name="Shape 7"/>
          <p:cNvSpPr/>
          <p:nvPr/>
        </p:nvSpPr>
        <p:spPr>
          <a:xfrm>
            <a:off x="5225415" y="1778000"/>
            <a:ext cx="1741170" cy="2540000"/>
          </a:xfrm>
          <a:prstGeom prst="roundRect">
            <a:avLst>
              <a:gd name="adj" fmla="val 6215"/>
            </a:avLst>
          </a:prstGeom>
          <a:solidFill>
            <a:srgbClr val="1E3350"/>
          </a:solidFill>
          <a:ln w="6350">
            <a:solidFill>
              <a:srgbClr val="2E4A6B"/>
            </a:solidFill>
            <a:prstDash val="solid"/>
          </a:ln>
        </p:spPr>
        <p:txBody>
          <a:bodyPr/>
          <a:lstStyle/>
          <a:p>
            <a:endParaRPr lang="en-US"/>
          </a:p>
        </p:txBody>
      </p:sp>
      <p:sp>
        <p:nvSpPr>
          <p:cNvPr id="12" name="Text 8"/>
          <p:cNvSpPr/>
          <p:nvPr/>
        </p:nvSpPr>
        <p:spPr>
          <a:xfrm>
            <a:off x="5430520" y="2057400"/>
            <a:ext cx="1381760" cy="609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F1EC"/>
                </a:solidFill>
                <a:latin typeface="Inter" pitchFamily="34" charset="0"/>
                <a:ea typeface="Inter" pitchFamily="34" charset="-122"/>
                <a:cs typeface="Inter" pitchFamily="34" charset="-120"/>
              </a:rPr>
              <a:t>Semantic model</a:t>
            </a:r>
            <a:endParaRPr lang="en-US" sz="1500" dirty="0"/>
          </a:p>
        </p:txBody>
      </p:sp>
      <p:sp>
        <p:nvSpPr>
          <p:cNvPr id="13" name="Text 9"/>
          <p:cNvSpPr/>
          <p:nvPr/>
        </p:nvSpPr>
        <p:spPr>
          <a:xfrm>
            <a:off x="5430520" y="2717800"/>
            <a:ext cx="1381760" cy="101600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C5CCD6"/>
                </a:solidFill>
                <a:latin typeface="Inter" pitchFamily="34" charset="0"/>
                <a:ea typeface="Inter" pitchFamily="34" charset="-122"/>
                <a:cs typeface="Inter" pitchFamily="34" charset="-120"/>
              </a:rPr>
              <a:t>Star schema, relationships, measures</a:t>
            </a:r>
            <a:endParaRPr lang="en-US" sz="1200" dirty="0"/>
          </a:p>
        </p:txBody>
      </p:sp>
      <p:pic>
        <p:nvPicPr>
          <p:cNvPr id="14" name="Image 2" descr="arrow-right"/>
          <p:cNvPicPr>
            <a:picLocks noChangeAspect="1"/>
          </p:cNvPicPr>
          <p:nvPr/>
        </p:nvPicPr>
        <p:blipFill>
          <a:blip r:embed="rId3"/>
          <a:srcRect/>
          <a:stretch/>
        </p:blipFill>
        <p:spPr>
          <a:xfrm>
            <a:off x="7071360" y="2978150"/>
            <a:ext cx="254000" cy="139700"/>
          </a:xfrm>
          <a:prstGeom prst="rect">
            <a:avLst/>
          </a:prstGeom>
        </p:spPr>
      </p:pic>
      <p:sp>
        <p:nvSpPr>
          <p:cNvPr id="15" name="Shape 10"/>
          <p:cNvSpPr/>
          <p:nvPr/>
        </p:nvSpPr>
        <p:spPr>
          <a:xfrm>
            <a:off x="7430135" y="1778000"/>
            <a:ext cx="1741170" cy="2540000"/>
          </a:xfrm>
          <a:prstGeom prst="roundRect">
            <a:avLst>
              <a:gd name="adj" fmla="val 6215"/>
            </a:avLst>
          </a:prstGeom>
          <a:solidFill>
            <a:srgbClr val="1E3350"/>
          </a:solidFill>
          <a:ln w="6350">
            <a:solidFill>
              <a:srgbClr val="2E4A6B"/>
            </a:solidFill>
            <a:prstDash val="solid"/>
          </a:ln>
        </p:spPr>
        <p:txBody>
          <a:bodyPr/>
          <a:lstStyle/>
          <a:p>
            <a:endParaRPr lang="en-US"/>
          </a:p>
        </p:txBody>
      </p:sp>
      <p:sp>
        <p:nvSpPr>
          <p:cNvPr id="16" name="Text 11"/>
          <p:cNvSpPr/>
          <p:nvPr/>
        </p:nvSpPr>
        <p:spPr>
          <a:xfrm>
            <a:off x="7635240" y="2057400"/>
            <a:ext cx="1381760" cy="609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F1EC"/>
                </a:solidFill>
                <a:latin typeface="Inter" pitchFamily="34" charset="0"/>
                <a:ea typeface="Inter" pitchFamily="34" charset="-122"/>
                <a:cs typeface="Inter" pitchFamily="34" charset="-120"/>
              </a:rPr>
              <a:t>Planning sheet</a:t>
            </a:r>
            <a:endParaRPr lang="en-US" sz="1500" dirty="0"/>
          </a:p>
        </p:txBody>
      </p:sp>
      <p:sp>
        <p:nvSpPr>
          <p:cNvPr id="17" name="Text 12"/>
          <p:cNvSpPr/>
          <p:nvPr/>
        </p:nvSpPr>
        <p:spPr>
          <a:xfrm>
            <a:off x="7635240" y="2717800"/>
            <a:ext cx="1381760" cy="101600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C5CCD6"/>
                </a:solidFill>
                <a:latin typeface="Inter" pitchFamily="34" charset="0"/>
                <a:ea typeface="Inter" pitchFamily="34" charset="-122"/>
                <a:cs typeface="Inter" pitchFamily="34" charset="-120"/>
              </a:rPr>
              <a:t>Forecast, Predict, formulas, scenarios</a:t>
            </a:r>
            <a:endParaRPr lang="en-US" sz="1200" dirty="0"/>
          </a:p>
        </p:txBody>
      </p:sp>
      <p:pic>
        <p:nvPicPr>
          <p:cNvPr id="18" name="Image 3" descr="arrow-right"/>
          <p:cNvPicPr>
            <a:picLocks noChangeAspect="1"/>
          </p:cNvPicPr>
          <p:nvPr/>
        </p:nvPicPr>
        <p:blipFill>
          <a:blip r:embed="rId3"/>
          <a:srcRect/>
          <a:stretch/>
        </p:blipFill>
        <p:spPr>
          <a:xfrm>
            <a:off x="9276080" y="2978150"/>
            <a:ext cx="254000" cy="139700"/>
          </a:xfrm>
          <a:prstGeom prst="rect">
            <a:avLst/>
          </a:prstGeom>
        </p:spPr>
      </p:pic>
      <p:sp>
        <p:nvSpPr>
          <p:cNvPr id="19" name="Shape 13"/>
          <p:cNvSpPr/>
          <p:nvPr/>
        </p:nvSpPr>
        <p:spPr>
          <a:xfrm>
            <a:off x="9634855" y="1778000"/>
            <a:ext cx="1741170" cy="2540000"/>
          </a:xfrm>
          <a:prstGeom prst="roundRect">
            <a:avLst>
              <a:gd name="adj" fmla="val 6215"/>
            </a:avLst>
          </a:prstGeom>
          <a:solidFill>
            <a:srgbClr val="1E3350"/>
          </a:solidFill>
          <a:ln w="6350">
            <a:solidFill>
              <a:srgbClr val="2E4A6B"/>
            </a:solidFill>
            <a:prstDash val="solid"/>
          </a:ln>
        </p:spPr>
        <p:txBody>
          <a:bodyPr/>
          <a:lstStyle/>
          <a:p>
            <a:endParaRPr lang="en-US"/>
          </a:p>
        </p:txBody>
      </p:sp>
      <p:sp>
        <p:nvSpPr>
          <p:cNvPr id="20" name="Text 14"/>
          <p:cNvSpPr/>
          <p:nvPr/>
        </p:nvSpPr>
        <p:spPr>
          <a:xfrm>
            <a:off x="9839960" y="2057400"/>
            <a:ext cx="1381760" cy="609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F1EC"/>
                </a:solidFill>
                <a:latin typeface="Inter" pitchFamily="34" charset="0"/>
                <a:ea typeface="Inter" pitchFamily="34" charset="-122"/>
                <a:cs typeface="Inter" pitchFamily="34" charset="-120"/>
              </a:rPr>
              <a:t>Intelligence sheet</a:t>
            </a:r>
            <a:endParaRPr lang="en-US" sz="1500" dirty="0"/>
          </a:p>
        </p:txBody>
      </p:sp>
      <p:sp>
        <p:nvSpPr>
          <p:cNvPr id="21" name="Text 15"/>
          <p:cNvSpPr/>
          <p:nvPr/>
        </p:nvSpPr>
        <p:spPr>
          <a:xfrm>
            <a:off x="9839960" y="2717800"/>
            <a:ext cx="1381760" cy="101600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C5CCD6"/>
                </a:solidFill>
                <a:latin typeface="Inter" pitchFamily="34" charset="0"/>
                <a:ea typeface="Inter" pitchFamily="34" charset="-122"/>
                <a:cs typeface="Inter" pitchFamily="34" charset="-120"/>
              </a:rPr>
              <a:t>Actual vs budget variance</a:t>
            </a:r>
            <a:endParaRPr lang="en-US" sz="1200" dirty="0"/>
          </a:p>
        </p:txBody>
      </p:sp>
      <p:sp>
        <p:nvSpPr>
          <p:cNvPr id="25" name="Insight band"/>
          <p:cNvSpPr/>
          <p:nvPr/>
        </p:nvSpPr>
        <p:spPr>
          <a:xfrm>
            <a:off x="812800" y="4673600"/>
            <a:ext cx="10566400" cy="1117600"/>
          </a:xfrm>
          <a:prstGeom prst="rect">
            <a:avLst/>
          </a:prstGeom>
          <a:solidFill>
            <a:srgbClr val="173A47"/>
          </a:solidFill>
          <a:ln>
            <a:noFill/>
          </a:ln>
        </p:spPr>
        <p:txBody>
          <a:bodyPr/>
          <a:lstStyle/>
          <a:p>
            <a:endParaRPr lang="en-US"/>
          </a:p>
        </p:txBody>
      </p:sp>
      <p:sp>
        <p:nvSpPr>
          <p:cNvPr id="26" name="Insight bar"/>
          <p:cNvSpPr/>
          <p:nvPr/>
        </p:nvSpPr>
        <p:spPr>
          <a:xfrm>
            <a:off x="812800" y="4673600"/>
            <a:ext cx="50800" cy="1117600"/>
          </a:xfrm>
          <a:prstGeom prst="rect">
            <a:avLst/>
          </a:prstGeom>
          <a:solidFill>
            <a:srgbClr val="6CC2B4"/>
          </a:solidFill>
          <a:ln>
            <a:noFill/>
          </a:ln>
        </p:spPr>
        <p:txBody>
          <a:bodyPr/>
          <a:lstStyle/>
          <a:p>
            <a:endParaRPr lang="en-US"/>
          </a:p>
        </p:txBody>
      </p:sp>
      <p:sp>
        <p:nvSpPr>
          <p:cNvPr id="22" name="Text 16"/>
          <p:cNvSpPr/>
          <p:nvPr/>
        </p:nvSpPr>
        <p:spPr>
          <a:xfrm>
            <a:off x="1168400" y="4826000"/>
            <a:ext cx="10033000" cy="812800"/>
          </a:xfrm>
          <a:prstGeom prst="rect">
            <a:avLst/>
          </a:prstGeom>
          <a:noFill/>
          <a:ln/>
        </p:spPr>
        <p:txBody>
          <a:bodyPr wrap="square" lIns="0" tIns="0" rIns="0" bIns="0" rtlCol="0" anchor="ctr">
            <a:normAutofit/>
          </a:bodyPr>
          <a:lstStyle/>
          <a:p>
            <a:pPr marL="0" indent="0" algn="l">
              <a:lnSpc>
                <a:spcPts val="2240"/>
              </a:lnSpc>
              <a:buNone/>
            </a:pPr>
            <a:r>
              <a:rPr lang="en-US" sz="1600" dirty="0">
                <a:solidFill>
                  <a:srgbClr val="F3F1EC"/>
                </a:solidFill>
                <a:latin typeface="Inter" pitchFamily="34" charset="0"/>
                <a:ea typeface="Inter" pitchFamily="34" charset="-122"/>
                <a:cs typeface="Inter" pitchFamily="34" charset="-120"/>
              </a:rPr>
              <a:t>The census behind the plan is the same census in every report. No exports, no copies, no reconciling spreadsheets.</a:t>
            </a:r>
            <a:endParaRPr lang="en-US" sz="1600" dirty="0"/>
          </a:p>
        </p:txBody>
      </p:sp>
      <p:sp>
        <p:nvSpPr>
          <p:cNvPr id="23" name="Text 17"/>
          <p:cNvSpPr/>
          <p:nvPr/>
        </p:nvSpPr>
        <p:spPr>
          <a:xfrm>
            <a:off x="812800" y="6238239"/>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24"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ARCHITECTURE · MICROSOFT FABRIC</a:t>
            </a:r>
          </a:p>
        </p:txBody>
      </p:sp>
    </p:spTree>
    <p:extLst>
      <p:ext uri="{BB962C8B-B14F-4D97-AF65-F5344CB8AC3E}">
        <p14:creationId xmlns:p14="http://schemas.microsoft.com/office/powerpoint/2010/main" val="1131015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One semantic model feeds every report and plan</a:t>
            </a:r>
            <a:endParaRPr lang="en-US" sz="3000" dirty="0"/>
          </a:p>
        </p:txBody>
      </p:sp>
      <p:sp>
        <p:nvSpPr>
          <p:cNvPr id="3" name="Shape 1"/>
          <p:cNvSpPr/>
          <p:nvPr/>
        </p:nvSpPr>
        <p:spPr>
          <a:xfrm>
            <a:off x="815975" y="1633221"/>
            <a:ext cx="6811010" cy="2677160"/>
          </a:xfrm>
          <a:prstGeom prst="roundRect">
            <a:avLst>
              <a:gd name="adj" fmla="val 3676"/>
            </a:avLst>
          </a:prstGeom>
          <a:solidFill>
            <a:srgbClr val="1E3350"/>
          </a:solidFill>
          <a:ln w="6350">
            <a:solidFill>
              <a:srgbClr val="2E4A6B"/>
            </a:solidFill>
            <a:prstDash val="solid"/>
          </a:ln>
        </p:spPr>
        <p:txBody>
          <a:bodyPr/>
          <a:lstStyle/>
          <a:p>
            <a:endParaRPr lang="en-US"/>
          </a:p>
        </p:txBody>
      </p:sp>
      <p:pic>
        <p:nvPicPr>
          <p:cNvPr id="4" name="Image 0" descr="Semantic model diagram showing the star schema relationships"/>
          <p:cNvPicPr>
            <a:picLocks noChangeAspect="1"/>
          </p:cNvPicPr>
          <p:nvPr/>
        </p:nvPicPr>
        <p:blipFill>
          <a:blip r:embed="rId3"/>
          <a:srcRect l="-50" r="-50"/>
          <a:stretch/>
        </p:blipFill>
        <p:spPr>
          <a:xfrm>
            <a:off x="919480" y="1736725"/>
            <a:ext cx="6604000" cy="2470150"/>
          </a:xfrm>
          <a:prstGeom prst="roundRect">
            <a:avLst>
              <a:gd name="adj" fmla="val 2057"/>
            </a:avLst>
          </a:prstGeom>
        </p:spPr>
      </p:pic>
      <p:sp>
        <p:nvSpPr>
          <p:cNvPr id="5" name="Shape 2"/>
          <p:cNvSpPr/>
          <p:nvPr/>
        </p:nvSpPr>
        <p:spPr>
          <a:xfrm>
            <a:off x="7985760" y="1587500"/>
            <a:ext cx="76200" cy="76200"/>
          </a:xfrm>
          <a:prstGeom prst="roundRect">
            <a:avLst>
              <a:gd name="adj" fmla="val 50000"/>
            </a:avLst>
          </a:prstGeom>
          <a:solidFill>
            <a:srgbClr val="1D7A6E"/>
          </a:solidFill>
          <a:ln/>
        </p:spPr>
        <p:txBody>
          <a:bodyPr/>
          <a:lstStyle/>
          <a:p>
            <a:endParaRPr lang="en-US"/>
          </a:p>
        </p:txBody>
      </p:sp>
      <p:sp>
        <p:nvSpPr>
          <p:cNvPr id="6" name="Text 3"/>
          <p:cNvSpPr/>
          <p:nvPr/>
        </p:nvSpPr>
        <p:spPr>
          <a:xfrm>
            <a:off x="8163560" y="1587500"/>
            <a:ext cx="3312109"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1EC"/>
                </a:solidFill>
                <a:latin typeface="Inter" pitchFamily="34" charset="0"/>
                <a:ea typeface="Inter" pitchFamily="34" charset="-122"/>
                <a:cs typeface="Inter" pitchFamily="34" charset="-120"/>
              </a:rPr>
              <a:t>Six dimensions: date, department, job class, payer, GL account and scenario</a:t>
            </a:r>
            <a:endParaRPr lang="en-US" sz="1300" dirty="0"/>
          </a:p>
        </p:txBody>
      </p:sp>
      <p:sp>
        <p:nvSpPr>
          <p:cNvPr id="7" name="Shape 4"/>
          <p:cNvSpPr/>
          <p:nvPr/>
        </p:nvSpPr>
        <p:spPr>
          <a:xfrm>
            <a:off x="7985760" y="2202182"/>
            <a:ext cx="76200" cy="76200"/>
          </a:xfrm>
          <a:prstGeom prst="roundRect">
            <a:avLst>
              <a:gd name="adj" fmla="val 50000"/>
            </a:avLst>
          </a:prstGeom>
          <a:solidFill>
            <a:srgbClr val="1D7A6E"/>
          </a:solidFill>
          <a:ln/>
        </p:spPr>
        <p:txBody>
          <a:bodyPr/>
          <a:lstStyle/>
          <a:p>
            <a:endParaRPr lang="en-US"/>
          </a:p>
        </p:txBody>
      </p:sp>
      <p:sp>
        <p:nvSpPr>
          <p:cNvPr id="8" name="Text 5"/>
          <p:cNvSpPr/>
          <p:nvPr/>
        </p:nvSpPr>
        <p:spPr>
          <a:xfrm>
            <a:off x="8163560" y="2202182"/>
            <a:ext cx="3312109"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1EC"/>
                </a:solidFill>
                <a:latin typeface="Inter" pitchFamily="34" charset="0"/>
                <a:ea typeface="Inter" pitchFamily="34" charset="-122"/>
                <a:cs typeface="Inter" pitchFamily="34" charset="-120"/>
              </a:rPr>
              <a:t>Five fact tables: census, ancillary volume, labor, patient revenue and general ledger</a:t>
            </a:r>
            <a:endParaRPr lang="en-US" sz="1300" dirty="0"/>
          </a:p>
        </p:txBody>
      </p:sp>
      <p:sp>
        <p:nvSpPr>
          <p:cNvPr id="9" name="Shape 6"/>
          <p:cNvSpPr/>
          <p:nvPr/>
        </p:nvSpPr>
        <p:spPr>
          <a:xfrm>
            <a:off x="7985760" y="3048000"/>
            <a:ext cx="76200" cy="76200"/>
          </a:xfrm>
          <a:prstGeom prst="roundRect">
            <a:avLst>
              <a:gd name="adj" fmla="val 50000"/>
            </a:avLst>
          </a:prstGeom>
          <a:solidFill>
            <a:srgbClr val="1D7A6E"/>
          </a:solidFill>
          <a:ln/>
        </p:spPr>
        <p:txBody>
          <a:bodyPr/>
          <a:lstStyle/>
          <a:p>
            <a:endParaRPr lang="en-US"/>
          </a:p>
        </p:txBody>
      </p:sp>
      <p:sp>
        <p:nvSpPr>
          <p:cNvPr id="10" name="Text 7"/>
          <p:cNvSpPr/>
          <p:nvPr/>
        </p:nvSpPr>
        <p:spPr>
          <a:xfrm>
            <a:off x="8163560" y="3048000"/>
            <a:ext cx="3312109"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1EC"/>
                </a:solidFill>
                <a:latin typeface="Inter" pitchFamily="34" charset="0"/>
                <a:ea typeface="Inter" pitchFamily="34" charset="-122"/>
                <a:cs typeface="Inter" pitchFamily="34" charset="-120"/>
              </a:rPr>
              <a:t>Direct Lake reads the Lakehouse tables directly, with no import or copy</a:t>
            </a:r>
            <a:endParaRPr lang="en-US" sz="1300" dirty="0"/>
          </a:p>
        </p:txBody>
      </p:sp>
      <p:sp>
        <p:nvSpPr>
          <p:cNvPr id="11" name="Shape 8"/>
          <p:cNvSpPr/>
          <p:nvPr/>
        </p:nvSpPr>
        <p:spPr>
          <a:xfrm>
            <a:off x="7985760" y="3662682"/>
            <a:ext cx="76200" cy="76200"/>
          </a:xfrm>
          <a:prstGeom prst="roundRect">
            <a:avLst>
              <a:gd name="adj" fmla="val 50000"/>
            </a:avLst>
          </a:prstGeom>
          <a:solidFill>
            <a:srgbClr val="1D7A6E"/>
          </a:solidFill>
          <a:ln/>
        </p:spPr>
        <p:txBody>
          <a:bodyPr/>
          <a:lstStyle/>
          <a:p>
            <a:endParaRPr lang="en-US"/>
          </a:p>
        </p:txBody>
      </p:sp>
      <p:sp>
        <p:nvSpPr>
          <p:cNvPr id="12" name="Text 9"/>
          <p:cNvSpPr/>
          <p:nvPr/>
        </p:nvSpPr>
        <p:spPr>
          <a:xfrm>
            <a:off x="8163560" y="3662682"/>
            <a:ext cx="3312109"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1EC"/>
                </a:solidFill>
                <a:latin typeface="Inter" pitchFamily="34" charset="0"/>
                <a:ea typeface="Inter" pitchFamily="34" charset="-122"/>
                <a:cs typeface="Inter" pitchFamily="34" charset="-120"/>
              </a:rPr>
              <a:t>Measures are defined once in a Calculations table and reused everywhere</a:t>
            </a:r>
            <a:endParaRPr lang="en-US" sz="1300" dirty="0"/>
          </a:p>
        </p:txBody>
      </p:sp>
      <p:sp>
        <p:nvSpPr>
          <p:cNvPr id="13" name="Text 10"/>
          <p:cNvSpPr/>
          <p:nvPr/>
        </p:nvSpPr>
        <p:spPr>
          <a:xfrm>
            <a:off x="812800" y="6238239"/>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14"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ARCHITECTURE · SEMANTIC MODEL</a:t>
            </a:r>
          </a:p>
        </p:txBody>
      </p:sp>
    </p:spTree>
    <p:extLst>
      <p:ext uri="{BB962C8B-B14F-4D97-AF65-F5344CB8AC3E}">
        <p14:creationId xmlns:p14="http://schemas.microsoft.com/office/powerpoint/2010/main" val="312866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Five steps to a driver-based plan</a:t>
            </a:r>
            <a:endParaRPr lang="en-US" sz="3000" dirty="0"/>
          </a:p>
        </p:txBody>
      </p:sp>
      <p:sp>
        <p:nvSpPr>
          <p:cNvPr id="3" name="Shape 1"/>
          <p:cNvSpPr/>
          <p:nvPr/>
        </p:nvSpPr>
        <p:spPr>
          <a:xfrm>
            <a:off x="815975" y="1590675"/>
            <a:ext cx="10560050" cy="715010"/>
          </a:xfrm>
          <a:prstGeom prst="roundRect">
            <a:avLst>
              <a:gd name="adj" fmla="val 13766"/>
            </a:avLst>
          </a:prstGeom>
          <a:solidFill>
            <a:srgbClr val="1E3350"/>
          </a:solidFill>
          <a:ln w="6350">
            <a:solidFill>
              <a:srgbClr val="2E4A6B"/>
            </a:solidFill>
            <a:prstDash val="solid"/>
          </a:ln>
        </p:spPr>
        <p:txBody>
          <a:bodyPr/>
          <a:lstStyle/>
          <a:p>
            <a:endParaRPr lang="en-US"/>
          </a:p>
        </p:txBody>
      </p:sp>
      <p:sp>
        <p:nvSpPr>
          <p:cNvPr id="4" name="Text 2"/>
          <p:cNvSpPr/>
          <p:nvPr/>
        </p:nvSpPr>
        <p:spPr>
          <a:xfrm>
            <a:off x="1021080" y="1744982"/>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1D7A6E"/>
          </a:solidFill>
          <a:ln/>
        </p:spPr>
        <p:txBody>
          <a:bodyPr wrap="square" lIns="0" tIns="0" rIns="0" bIns="0" rtlCol="0" anchor="t">
            <a:normAutofit/>
          </a:bodyPr>
          <a:lstStyle/>
          <a:p>
            <a:pPr marL="0" indent="0" algn="ctr">
              <a:lnSpc>
                <a:spcPts val="3204"/>
              </a:lnSpc>
              <a:buNone/>
            </a:pPr>
            <a:r>
              <a:rPr lang="en-US" sz="1800" b="1" dirty="0">
                <a:solidFill>
                  <a:srgbClr val="F3F1EC"/>
                </a:solidFill>
                <a:latin typeface="Source Serif 4" pitchFamily="18" charset="0"/>
                <a:ea typeface="Source Serif 4" pitchFamily="18" charset="-122"/>
                <a:cs typeface="Source Serif 4" pitchFamily="18" charset="-120"/>
              </a:rPr>
              <a:t>1</a:t>
            </a:r>
            <a:endParaRPr lang="en-US" sz="1800" dirty="0"/>
          </a:p>
        </p:txBody>
      </p:sp>
      <p:sp>
        <p:nvSpPr>
          <p:cNvPr id="5" name="Text 3"/>
          <p:cNvSpPr/>
          <p:nvPr/>
        </p:nvSpPr>
        <p:spPr>
          <a:xfrm>
            <a:off x="1630680" y="1826261"/>
            <a:ext cx="30086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1EC"/>
                </a:solidFill>
                <a:latin typeface="Inter" pitchFamily="34" charset="0"/>
                <a:ea typeface="Inter" pitchFamily="34" charset="-122"/>
                <a:cs typeface="Inter" pitchFamily="34" charset="-120"/>
              </a:rPr>
              <a:t>Filter to actuals</a:t>
            </a:r>
            <a:endParaRPr lang="en-US" sz="1600" dirty="0"/>
          </a:p>
        </p:txBody>
      </p:sp>
      <p:sp>
        <p:nvSpPr>
          <p:cNvPr id="6" name="Text 4"/>
          <p:cNvSpPr/>
          <p:nvPr/>
        </p:nvSpPr>
        <p:spPr>
          <a:xfrm>
            <a:off x="4754880" y="1832611"/>
            <a:ext cx="661797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CCD6"/>
                </a:solidFill>
                <a:latin typeface="Inter" pitchFamily="34" charset="0"/>
                <a:ea typeface="Inter" pitchFamily="34" charset="-122"/>
                <a:cs typeface="Inter" pitchFamily="34" charset="-120"/>
              </a:rPr>
              <a:t>Scenario = Actual and inpatient units only, so budget rows never mix into history</a:t>
            </a:r>
            <a:endParaRPr lang="en-US" sz="1300" dirty="0"/>
          </a:p>
        </p:txBody>
      </p:sp>
      <p:sp>
        <p:nvSpPr>
          <p:cNvPr id="7" name="Shape 5"/>
          <p:cNvSpPr/>
          <p:nvPr/>
        </p:nvSpPr>
        <p:spPr>
          <a:xfrm>
            <a:off x="815975" y="2439036"/>
            <a:ext cx="10560050" cy="770890"/>
          </a:xfrm>
          <a:prstGeom prst="roundRect">
            <a:avLst>
              <a:gd name="adj" fmla="val 12768"/>
            </a:avLst>
          </a:prstGeom>
          <a:solidFill>
            <a:srgbClr val="1E3350"/>
          </a:solidFill>
          <a:ln w="6350">
            <a:solidFill>
              <a:srgbClr val="2E4A6B"/>
            </a:solidFill>
            <a:prstDash val="solid"/>
          </a:ln>
        </p:spPr>
        <p:txBody>
          <a:bodyPr/>
          <a:lstStyle/>
          <a:p>
            <a:endParaRPr lang="en-US"/>
          </a:p>
        </p:txBody>
      </p:sp>
      <p:sp>
        <p:nvSpPr>
          <p:cNvPr id="8" name="Text 6"/>
          <p:cNvSpPr/>
          <p:nvPr/>
        </p:nvSpPr>
        <p:spPr>
          <a:xfrm>
            <a:off x="1021080" y="2621282"/>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1D7A6E"/>
          </a:solidFill>
          <a:ln/>
        </p:spPr>
        <p:txBody>
          <a:bodyPr wrap="square" lIns="0" tIns="0" rIns="0" bIns="0" rtlCol="0" anchor="t">
            <a:normAutofit/>
          </a:bodyPr>
          <a:lstStyle/>
          <a:p>
            <a:pPr marL="0" indent="0" algn="ctr">
              <a:lnSpc>
                <a:spcPts val="3204"/>
              </a:lnSpc>
              <a:buNone/>
            </a:pPr>
            <a:r>
              <a:rPr lang="en-US" sz="1800" b="1" dirty="0">
                <a:solidFill>
                  <a:srgbClr val="F3F1EC"/>
                </a:solidFill>
                <a:latin typeface="Source Serif 4" pitchFamily="18" charset="0"/>
                <a:ea typeface="Source Serif 4" pitchFamily="18" charset="-122"/>
                <a:cs typeface="Source Serif 4" pitchFamily="18" charset="-120"/>
              </a:rPr>
              <a:t>2</a:t>
            </a:r>
            <a:endParaRPr lang="en-US" sz="1800" dirty="0"/>
          </a:p>
        </p:txBody>
      </p:sp>
      <p:sp>
        <p:nvSpPr>
          <p:cNvPr id="9" name="Text 7"/>
          <p:cNvSpPr/>
          <p:nvPr/>
        </p:nvSpPr>
        <p:spPr>
          <a:xfrm>
            <a:off x="1630680" y="2702561"/>
            <a:ext cx="30086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1EC"/>
                </a:solidFill>
                <a:latin typeface="Inter" pitchFamily="34" charset="0"/>
                <a:ea typeface="Inter" pitchFamily="34" charset="-122"/>
                <a:cs typeface="Inter" pitchFamily="34" charset="-120"/>
              </a:rPr>
              <a:t>Create the forecast measure</a:t>
            </a:r>
            <a:endParaRPr lang="en-US" sz="1600" dirty="0"/>
          </a:p>
        </p:txBody>
      </p:sp>
      <p:sp>
        <p:nvSpPr>
          <p:cNvPr id="10" name="Text 8"/>
          <p:cNvSpPr/>
          <p:nvPr/>
        </p:nvSpPr>
        <p:spPr>
          <a:xfrm>
            <a:off x="4754880" y="2593339"/>
            <a:ext cx="6608521"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CCD6"/>
                </a:solidFill>
                <a:latin typeface="Inter" pitchFamily="34" charset="0"/>
                <a:ea typeface="Inter" pitchFamily="34" charset="-122"/>
                <a:cs typeface="Inter" pitchFamily="34" charset="-120"/>
              </a:rPr>
              <a:t>Model › Forecast: the container for Sep 2026 – Dec 2027, linked to actuals for past months</a:t>
            </a:r>
            <a:endParaRPr lang="en-US" sz="1300" dirty="0"/>
          </a:p>
        </p:txBody>
      </p:sp>
      <p:sp>
        <p:nvSpPr>
          <p:cNvPr id="11" name="Shape 9"/>
          <p:cNvSpPr/>
          <p:nvPr/>
        </p:nvSpPr>
        <p:spPr>
          <a:xfrm>
            <a:off x="815975" y="3343275"/>
            <a:ext cx="10560050" cy="770890"/>
          </a:xfrm>
          <a:prstGeom prst="roundRect">
            <a:avLst>
              <a:gd name="adj" fmla="val 12768"/>
            </a:avLst>
          </a:prstGeom>
          <a:solidFill>
            <a:srgbClr val="1E3350"/>
          </a:solidFill>
          <a:ln w="6350">
            <a:solidFill>
              <a:srgbClr val="2E4A6B"/>
            </a:solidFill>
            <a:prstDash val="solid"/>
          </a:ln>
        </p:spPr>
        <p:txBody>
          <a:bodyPr/>
          <a:lstStyle/>
          <a:p>
            <a:endParaRPr lang="en-US"/>
          </a:p>
        </p:txBody>
      </p:sp>
      <p:sp>
        <p:nvSpPr>
          <p:cNvPr id="12" name="Text 10"/>
          <p:cNvSpPr/>
          <p:nvPr/>
        </p:nvSpPr>
        <p:spPr>
          <a:xfrm>
            <a:off x="1021080" y="352552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1D7A6E"/>
          </a:solidFill>
          <a:ln/>
        </p:spPr>
        <p:txBody>
          <a:bodyPr wrap="square" lIns="0" tIns="0" rIns="0" bIns="0" rtlCol="0" anchor="t">
            <a:normAutofit/>
          </a:bodyPr>
          <a:lstStyle/>
          <a:p>
            <a:pPr marL="0" indent="0" algn="ctr">
              <a:lnSpc>
                <a:spcPts val="3204"/>
              </a:lnSpc>
              <a:buNone/>
            </a:pPr>
            <a:r>
              <a:rPr lang="en-US" sz="1800" b="1" dirty="0">
                <a:solidFill>
                  <a:srgbClr val="F3F1EC"/>
                </a:solidFill>
                <a:latin typeface="Source Serif 4" pitchFamily="18" charset="0"/>
                <a:ea typeface="Source Serif 4" pitchFamily="18" charset="-122"/>
                <a:cs typeface="Source Serif 4" pitchFamily="18" charset="-120"/>
              </a:rPr>
              <a:t>3</a:t>
            </a:r>
            <a:endParaRPr lang="en-US" sz="1800" dirty="0"/>
          </a:p>
        </p:txBody>
      </p:sp>
      <p:sp>
        <p:nvSpPr>
          <p:cNvPr id="13" name="Text 11"/>
          <p:cNvSpPr/>
          <p:nvPr/>
        </p:nvSpPr>
        <p:spPr>
          <a:xfrm>
            <a:off x="1630680" y="3606800"/>
            <a:ext cx="30086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1EC"/>
                </a:solidFill>
                <a:latin typeface="Inter" pitchFamily="34" charset="0"/>
                <a:ea typeface="Inter" pitchFamily="34" charset="-122"/>
                <a:cs typeface="Inter" pitchFamily="34" charset="-120"/>
              </a:rPr>
              <a:t>Run Predict</a:t>
            </a:r>
            <a:endParaRPr lang="en-US" sz="1600" dirty="0"/>
          </a:p>
        </p:txBody>
      </p:sp>
      <p:sp>
        <p:nvSpPr>
          <p:cNvPr id="14" name="Text 12"/>
          <p:cNvSpPr/>
          <p:nvPr/>
        </p:nvSpPr>
        <p:spPr>
          <a:xfrm>
            <a:off x="4754880" y="3497582"/>
            <a:ext cx="6608521"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CCD6"/>
                </a:solidFill>
                <a:latin typeface="Inter" pitchFamily="34" charset="0"/>
                <a:ea typeface="Inter" pitchFamily="34" charset="-122"/>
                <a:cs typeface="Inter" pitchFamily="34" charset="-120"/>
              </a:rPr>
              <a:t>MSTL trend decomposition with 12-month seasonality, trained on Jan 2024 – Aug 2026</a:t>
            </a:r>
            <a:endParaRPr lang="en-US" sz="1300" dirty="0"/>
          </a:p>
        </p:txBody>
      </p:sp>
      <p:sp>
        <p:nvSpPr>
          <p:cNvPr id="15" name="Shape 13"/>
          <p:cNvSpPr/>
          <p:nvPr/>
        </p:nvSpPr>
        <p:spPr>
          <a:xfrm>
            <a:off x="815975" y="4247517"/>
            <a:ext cx="10560050" cy="715010"/>
          </a:xfrm>
          <a:prstGeom prst="roundRect">
            <a:avLst>
              <a:gd name="adj" fmla="val 13766"/>
            </a:avLst>
          </a:prstGeom>
          <a:solidFill>
            <a:srgbClr val="1E3350"/>
          </a:solidFill>
          <a:ln w="6350">
            <a:solidFill>
              <a:srgbClr val="2E4A6B"/>
            </a:solidFill>
            <a:prstDash val="solid"/>
          </a:ln>
        </p:spPr>
        <p:txBody>
          <a:bodyPr/>
          <a:lstStyle/>
          <a:p>
            <a:endParaRPr lang="en-US"/>
          </a:p>
        </p:txBody>
      </p:sp>
      <p:sp>
        <p:nvSpPr>
          <p:cNvPr id="16" name="Text 14"/>
          <p:cNvSpPr/>
          <p:nvPr/>
        </p:nvSpPr>
        <p:spPr>
          <a:xfrm>
            <a:off x="1021080" y="440182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1D7A6E"/>
          </a:solidFill>
          <a:ln/>
        </p:spPr>
        <p:txBody>
          <a:bodyPr wrap="square" lIns="0" tIns="0" rIns="0" bIns="0" rtlCol="0" anchor="t">
            <a:normAutofit/>
          </a:bodyPr>
          <a:lstStyle/>
          <a:p>
            <a:pPr marL="0" indent="0" algn="ctr">
              <a:lnSpc>
                <a:spcPts val="3204"/>
              </a:lnSpc>
              <a:buNone/>
            </a:pPr>
            <a:r>
              <a:rPr lang="en-US" sz="1800" b="1" dirty="0">
                <a:solidFill>
                  <a:srgbClr val="F3F1EC"/>
                </a:solidFill>
                <a:latin typeface="Source Serif 4" pitchFamily="18" charset="0"/>
                <a:ea typeface="Source Serif 4" pitchFamily="18" charset="-122"/>
                <a:cs typeface="Source Serif 4" pitchFamily="18" charset="-120"/>
              </a:rPr>
              <a:t>4</a:t>
            </a:r>
            <a:endParaRPr lang="en-US" sz="1800" dirty="0"/>
          </a:p>
        </p:txBody>
      </p:sp>
      <p:sp>
        <p:nvSpPr>
          <p:cNvPr id="17" name="Text 15"/>
          <p:cNvSpPr/>
          <p:nvPr/>
        </p:nvSpPr>
        <p:spPr>
          <a:xfrm>
            <a:off x="1630680" y="4483100"/>
            <a:ext cx="30086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1EC"/>
                </a:solidFill>
                <a:latin typeface="Inter" pitchFamily="34" charset="0"/>
                <a:ea typeface="Inter" pitchFamily="34" charset="-122"/>
                <a:cs typeface="Inter" pitchFamily="34" charset="-120"/>
              </a:rPr>
              <a:t>Add staffing formulas</a:t>
            </a:r>
            <a:endParaRPr lang="en-US" sz="1600" dirty="0"/>
          </a:p>
        </p:txBody>
      </p:sp>
      <p:sp>
        <p:nvSpPr>
          <p:cNvPr id="18" name="Text 16"/>
          <p:cNvSpPr/>
          <p:nvPr/>
        </p:nvSpPr>
        <p:spPr>
          <a:xfrm>
            <a:off x="4754880" y="4489450"/>
            <a:ext cx="660852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CCD6"/>
                </a:solidFill>
                <a:latin typeface="Inter" pitchFamily="34" charset="0"/>
                <a:ea typeface="Inter" pitchFamily="34" charset="-122"/>
                <a:cs typeface="Inter" pitchFamily="34" charset="-120"/>
              </a:rPr>
              <a:t>Nursing hours, paid FTEs and labor cost, calculated month by month</a:t>
            </a:r>
            <a:endParaRPr lang="en-US" sz="1300" dirty="0"/>
          </a:p>
        </p:txBody>
      </p:sp>
      <p:sp>
        <p:nvSpPr>
          <p:cNvPr id="19" name="Shape 17"/>
          <p:cNvSpPr/>
          <p:nvPr/>
        </p:nvSpPr>
        <p:spPr>
          <a:xfrm>
            <a:off x="815975" y="5095875"/>
            <a:ext cx="10560050" cy="715010"/>
          </a:xfrm>
          <a:prstGeom prst="roundRect">
            <a:avLst>
              <a:gd name="adj" fmla="val 13766"/>
            </a:avLst>
          </a:prstGeom>
          <a:solidFill>
            <a:srgbClr val="1E3350"/>
          </a:solidFill>
          <a:ln w="6350">
            <a:solidFill>
              <a:srgbClr val="2E4A6B"/>
            </a:solidFill>
            <a:prstDash val="solid"/>
          </a:ln>
        </p:spPr>
        <p:txBody>
          <a:bodyPr/>
          <a:lstStyle/>
          <a:p>
            <a:endParaRPr lang="en-US"/>
          </a:p>
        </p:txBody>
      </p:sp>
      <p:sp>
        <p:nvSpPr>
          <p:cNvPr id="20" name="Text 18"/>
          <p:cNvSpPr/>
          <p:nvPr/>
        </p:nvSpPr>
        <p:spPr>
          <a:xfrm>
            <a:off x="1021080" y="5250179"/>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1D7A6E"/>
          </a:solidFill>
          <a:ln/>
        </p:spPr>
        <p:txBody>
          <a:bodyPr wrap="square" lIns="0" tIns="0" rIns="0" bIns="0" rtlCol="0" anchor="t">
            <a:normAutofit/>
          </a:bodyPr>
          <a:lstStyle/>
          <a:p>
            <a:pPr marL="0" indent="0" algn="ctr">
              <a:lnSpc>
                <a:spcPts val="3204"/>
              </a:lnSpc>
              <a:buNone/>
            </a:pPr>
            <a:r>
              <a:rPr lang="en-US" sz="1800" b="1" dirty="0">
                <a:solidFill>
                  <a:srgbClr val="F3F1EC"/>
                </a:solidFill>
                <a:latin typeface="Source Serif 4" pitchFamily="18" charset="0"/>
                <a:ea typeface="Source Serif 4" pitchFamily="18" charset="-122"/>
                <a:cs typeface="Source Serif 4" pitchFamily="18" charset="-120"/>
              </a:rPr>
              <a:t>5</a:t>
            </a:r>
            <a:endParaRPr lang="en-US" sz="1800" dirty="0"/>
          </a:p>
        </p:txBody>
      </p:sp>
      <p:sp>
        <p:nvSpPr>
          <p:cNvPr id="21" name="Text 19"/>
          <p:cNvSpPr/>
          <p:nvPr/>
        </p:nvSpPr>
        <p:spPr>
          <a:xfrm>
            <a:off x="1630680" y="5331464"/>
            <a:ext cx="30086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1EC"/>
                </a:solidFill>
                <a:latin typeface="Inter" pitchFamily="34" charset="0"/>
                <a:ea typeface="Inter" pitchFamily="34" charset="-122"/>
                <a:cs typeface="Inter" pitchFamily="34" charset="-120"/>
              </a:rPr>
              <a:t>Simulate scenarios</a:t>
            </a:r>
            <a:endParaRPr lang="en-US" sz="1600" dirty="0"/>
          </a:p>
        </p:txBody>
      </p:sp>
      <p:sp>
        <p:nvSpPr>
          <p:cNvPr id="22" name="Text 20"/>
          <p:cNvSpPr/>
          <p:nvPr/>
        </p:nvSpPr>
        <p:spPr>
          <a:xfrm>
            <a:off x="4754880" y="5337814"/>
            <a:ext cx="660852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CCD6"/>
                </a:solidFill>
                <a:latin typeface="Inter" pitchFamily="34" charset="0"/>
                <a:ea typeface="Inter" pitchFamily="34" charset="-122"/>
                <a:cs typeface="Inter" pitchFamily="34" charset="-120"/>
              </a:rPr>
              <a:t>Model › Scenario: +10% and −5% volume, then compare side by side</a:t>
            </a:r>
            <a:endParaRPr lang="en-US" sz="1300" dirty="0"/>
          </a:p>
        </p:txBody>
      </p:sp>
      <p:sp>
        <p:nvSpPr>
          <p:cNvPr id="23" name="Text 21"/>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24"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WALKTHROUGH · OVERVIEW</a:t>
            </a:r>
          </a:p>
        </p:txBody>
      </p:sp>
    </p:spTree>
    <p:extLst>
      <p:ext uri="{BB962C8B-B14F-4D97-AF65-F5344CB8AC3E}">
        <p14:creationId xmlns:p14="http://schemas.microsoft.com/office/powerpoint/2010/main" val="1183201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Step 1: create the forecast measure</a:t>
            </a:r>
            <a:endParaRPr lang="en-US" sz="3000" dirty="0"/>
          </a:p>
        </p:txBody>
      </p:sp>
      <p:sp>
        <p:nvSpPr>
          <p:cNvPr id="3" name="Shape 1"/>
          <p:cNvSpPr/>
          <p:nvPr/>
        </p:nvSpPr>
        <p:spPr>
          <a:xfrm>
            <a:off x="815975" y="1590675"/>
            <a:ext cx="5795010" cy="3693160"/>
          </a:xfrm>
          <a:prstGeom prst="roundRect">
            <a:avLst>
              <a:gd name="adj" fmla="val 2665"/>
            </a:avLst>
          </a:prstGeom>
          <a:solidFill>
            <a:srgbClr val="1E3350"/>
          </a:solidFill>
          <a:ln w="6350">
            <a:solidFill>
              <a:srgbClr val="2E4A6B"/>
            </a:solidFill>
            <a:prstDash val="solid"/>
          </a:ln>
        </p:spPr>
        <p:txBody>
          <a:bodyPr/>
          <a:lstStyle/>
          <a:p>
            <a:endParaRPr lang="en-US"/>
          </a:p>
        </p:txBody>
      </p:sp>
      <p:pic>
        <p:nvPicPr>
          <p:cNvPr id="4" name="Image 0" descr="Insert Forecast Measures dialog with measure name and forecast period"/>
          <p:cNvPicPr>
            <a:picLocks noChangeAspect="1"/>
          </p:cNvPicPr>
          <p:nvPr/>
        </p:nvPicPr>
        <p:blipFill>
          <a:blip r:embed="rId3"/>
          <a:srcRect t="-22" b="-22"/>
          <a:stretch/>
        </p:blipFill>
        <p:spPr>
          <a:xfrm>
            <a:off x="919480" y="1694179"/>
            <a:ext cx="5588000" cy="3486150"/>
          </a:xfrm>
          <a:prstGeom prst="roundRect">
            <a:avLst>
              <a:gd name="adj" fmla="val 1457"/>
            </a:avLst>
          </a:prstGeom>
        </p:spPr>
      </p:pic>
      <p:sp>
        <p:nvSpPr>
          <p:cNvPr id="5" name="Text 2"/>
          <p:cNvSpPr/>
          <p:nvPr/>
        </p:nvSpPr>
        <p:spPr>
          <a:xfrm>
            <a:off x="6969760" y="1880239"/>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1D7A6E"/>
          </a:solidFill>
          <a:ln/>
        </p:spPr>
        <p:txBody>
          <a:bodyPr wrap="square" lIns="0" tIns="0" rIns="0" bIns="0" rtlCol="0" anchor="t">
            <a:normAutofit/>
          </a:bodyPr>
          <a:lstStyle/>
          <a:p>
            <a:pPr marL="0" indent="0" algn="ctr">
              <a:lnSpc>
                <a:spcPts val="2405"/>
              </a:lnSpc>
              <a:buNone/>
            </a:pPr>
            <a:r>
              <a:rPr lang="en-US" sz="1300" b="1" dirty="0">
                <a:solidFill>
                  <a:srgbClr val="F3F1EC"/>
                </a:solidFill>
                <a:latin typeface="Inter" pitchFamily="34" charset="0"/>
                <a:ea typeface="Inter" pitchFamily="34" charset="-122"/>
                <a:cs typeface="Inter" pitchFamily="34" charset="-120"/>
              </a:rPr>
              <a:t>1</a:t>
            </a:r>
            <a:endParaRPr lang="en-US" sz="1300" dirty="0"/>
          </a:p>
        </p:txBody>
      </p:sp>
      <p:sp>
        <p:nvSpPr>
          <p:cNvPr id="6" name="Text 3"/>
          <p:cNvSpPr/>
          <p:nvPr/>
        </p:nvSpPr>
        <p:spPr>
          <a:xfrm>
            <a:off x="7401560" y="1880239"/>
            <a:ext cx="4096969"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Basic</a:t>
            </a:r>
            <a:endParaRPr lang="en-US" sz="1400" dirty="0"/>
          </a:p>
        </p:txBody>
      </p:sp>
      <p:sp>
        <p:nvSpPr>
          <p:cNvPr id="7" name="Text 4"/>
          <p:cNvSpPr/>
          <p:nvPr/>
        </p:nvSpPr>
        <p:spPr>
          <a:xfrm>
            <a:off x="7401560" y="2149475"/>
            <a:ext cx="409696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Name the measure and set the period: Sep 2026 – Dec 2027</a:t>
            </a:r>
            <a:endParaRPr lang="en-US" sz="1200" dirty="0"/>
          </a:p>
        </p:txBody>
      </p:sp>
      <p:sp>
        <p:nvSpPr>
          <p:cNvPr id="8" name="Text 5"/>
          <p:cNvSpPr/>
          <p:nvPr/>
        </p:nvSpPr>
        <p:spPr>
          <a:xfrm>
            <a:off x="6969760" y="2728596"/>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1D7A6E"/>
          </a:solidFill>
          <a:ln/>
        </p:spPr>
        <p:txBody>
          <a:bodyPr wrap="square" lIns="0" tIns="0" rIns="0" bIns="0" rtlCol="0" anchor="t">
            <a:normAutofit/>
          </a:bodyPr>
          <a:lstStyle/>
          <a:p>
            <a:pPr marL="0" indent="0" algn="ctr">
              <a:lnSpc>
                <a:spcPts val="2405"/>
              </a:lnSpc>
              <a:buNone/>
            </a:pPr>
            <a:r>
              <a:rPr lang="en-US" sz="1300" b="1" dirty="0">
                <a:solidFill>
                  <a:srgbClr val="F3F1EC"/>
                </a:solidFill>
                <a:latin typeface="Inter" pitchFamily="34" charset="0"/>
                <a:ea typeface="Inter" pitchFamily="34" charset="-122"/>
                <a:cs typeface="Inter" pitchFamily="34" charset="-120"/>
              </a:rPr>
              <a:t>2</a:t>
            </a:r>
            <a:endParaRPr lang="en-US" sz="1300" dirty="0"/>
          </a:p>
        </p:txBody>
      </p:sp>
      <p:sp>
        <p:nvSpPr>
          <p:cNvPr id="9" name="Text 6"/>
          <p:cNvSpPr/>
          <p:nvPr/>
        </p:nvSpPr>
        <p:spPr>
          <a:xfrm>
            <a:off x="7401560" y="2728596"/>
            <a:ext cx="4096969"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Closed periods</a:t>
            </a:r>
            <a:endParaRPr lang="en-US" sz="1400" dirty="0"/>
          </a:p>
        </p:txBody>
      </p:sp>
      <p:sp>
        <p:nvSpPr>
          <p:cNvPr id="10" name="Text 7"/>
          <p:cNvSpPr/>
          <p:nvPr/>
        </p:nvSpPr>
        <p:spPr>
          <a:xfrm>
            <a:off x="7401560" y="2997839"/>
            <a:ext cx="409696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Link to Patient Days, so past months show actuals</a:t>
            </a:r>
            <a:endParaRPr lang="en-US" sz="1200" dirty="0"/>
          </a:p>
        </p:txBody>
      </p:sp>
      <p:sp>
        <p:nvSpPr>
          <p:cNvPr id="11" name="Text 8"/>
          <p:cNvSpPr/>
          <p:nvPr/>
        </p:nvSpPr>
        <p:spPr>
          <a:xfrm>
            <a:off x="6969760" y="3363596"/>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1D7A6E"/>
          </a:solidFill>
          <a:ln/>
        </p:spPr>
        <p:txBody>
          <a:bodyPr wrap="square" lIns="0" tIns="0" rIns="0" bIns="0" rtlCol="0" anchor="t">
            <a:normAutofit/>
          </a:bodyPr>
          <a:lstStyle/>
          <a:p>
            <a:pPr marL="0" indent="0" algn="ctr">
              <a:lnSpc>
                <a:spcPts val="2405"/>
              </a:lnSpc>
              <a:buNone/>
            </a:pPr>
            <a:r>
              <a:rPr lang="en-US" sz="1300" b="1" dirty="0">
                <a:solidFill>
                  <a:srgbClr val="F3F1EC"/>
                </a:solidFill>
                <a:latin typeface="Inter" pitchFamily="34" charset="0"/>
                <a:ea typeface="Inter" pitchFamily="34" charset="-122"/>
                <a:cs typeface="Inter" pitchFamily="34" charset="-120"/>
              </a:rPr>
              <a:t>3</a:t>
            </a:r>
            <a:endParaRPr lang="en-US" sz="1300" dirty="0"/>
          </a:p>
        </p:txBody>
      </p:sp>
      <p:sp>
        <p:nvSpPr>
          <p:cNvPr id="12" name="Text 9"/>
          <p:cNvSpPr/>
          <p:nvPr/>
        </p:nvSpPr>
        <p:spPr>
          <a:xfrm>
            <a:off x="7401560" y="3363596"/>
            <a:ext cx="4096969"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Open periods</a:t>
            </a:r>
            <a:endParaRPr lang="en-US" sz="1400" dirty="0"/>
          </a:p>
        </p:txBody>
      </p:sp>
      <p:sp>
        <p:nvSpPr>
          <p:cNvPr id="13" name="Text 10"/>
          <p:cNvSpPr/>
          <p:nvPr/>
        </p:nvSpPr>
        <p:spPr>
          <a:xfrm>
            <a:off x="7401560" y="3632839"/>
            <a:ext cx="409696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Left editable, ready for Predict to fill</a:t>
            </a:r>
            <a:endParaRPr lang="en-US" sz="1200" dirty="0"/>
          </a:p>
        </p:txBody>
      </p:sp>
      <p:sp>
        <p:nvSpPr>
          <p:cNvPr id="14" name="Text 11"/>
          <p:cNvSpPr/>
          <p:nvPr/>
        </p:nvSpPr>
        <p:spPr>
          <a:xfrm>
            <a:off x="6969760" y="3998596"/>
            <a:ext cx="4409440" cy="995680"/>
          </a:xfrm>
          <a:prstGeom prst="roundRect">
            <a:avLst>
              <a:gd name="adj" fmla="val 10204"/>
            </a:avLst>
          </a:prstGeom>
          <a:solidFill>
            <a:srgbClr val="173A47"/>
          </a:solidFill>
          <a:ln/>
        </p:spPr>
        <p:txBody>
          <a:bodyPr wrap="square" lIns="173442" tIns="148042" rIns="53351" bIns="122642" rtlCol="0" anchor="t">
            <a:normAutofit/>
          </a:bodyPr>
          <a:lstStyle/>
          <a:p>
            <a:pPr marL="0" indent="0" algn="l">
              <a:lnSpc>
                <a:spcPts val="1680"/>
              </a:lnSpc>
              <a:buNone/>
            </a:pPr>
            <a:r>
              <a:rPr lang="en-US" sz="1200" dirty="0">
                <a:solidFill>
                  <a:srgbClr val="F3F1EC"/>
                </a:solidFill>
                <a:latin typeface="Inter" pitchFamily="34" charset="0"/>
                <a:ea typeface="Inter" pitchFamily="34" charset="-122"/>
                <a:cs typeface="Inter" pitchFamily="34" charset="-120"/>
              </a:rPr>
              <a:t>Required first: Patient Days is read-only, and 2027 does not exist in the data. The forecast measure creates the future months.</a:t>
            </a:r>
            <a:endParaRPr lang="en-US" sz="1200" dirty="0"/>
          </a:p>
        </p:txBody>
      </p:sp>
      <p:sp>
        <p:nvSpPr>
          <p:cNvPr id="15" name="Text 12"/>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16"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WALKTHROUGH · STEP 1</a:t>
            </a:r>
          </a:p>
        </p:txBody>
      </p:sp>
    </p:spTree>
    <p:extLst>
      <p:ext uri="{BB962C8B-B14F-4D97-AF65-F5344CB8AC3E}">
        <p14:creationId xmlns:p14="http://schemas.microsoft.com/office/powerpoint/2010/main" val="2747544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Step 2: let Predict learn from 32 months of history</a:t>
            </a:r>
            <a:endParaRPr lang="en-US" sz="3000" dirty="0"/>
          </a:p>
        </p:txBody>
      </p:sp>
      <p:sp>
        <p:nvSpPr>
          <p:cNvPr id="3" name="Shape 1"/>
          <p:cNvSpPr/>
          <p:nvPr/>
        </p:nvSpPr>
        <p:spPr>
          <a:xfrm>
            <a:off x="815975" y="1590675"/>
            <a:ext cx="3845560" cy="3763010"/>
          </a:xfrm>
          <a:prstGeom prst="roundRect">
            <a:avLst>
              <a:gd name="adj" fmla="val 2616"/>
            </a:avLst>
          </a:prstGeom>
          <a:solidFill>
            <a:srgbClr val="1E3350"/>
          </a:solidFill>
          <a:ln w="6350">
            <a:solidFill>
              <a:srgbClr val="2E4A6B"/>
            </a:solidFill>
            <a:prstDash val="solid"/>
          </a:ln>
        </p:spPr>
        <p:txBody>
          <a:bodyPr/>
          <a:lstStyle/>
          <a:p>
            <a:endParaRPr lang="en-US"/>
          </a:p>
        </p:txBody>
      </p:sp>
      <p:pic>
        <p:nvPicPr>
          <p:cNvPr id="4" name="Image 0" descr="Predict panel with algorithm choices: MSTL, exponential smoothing and ARIMA"/>
          <p:cNvPicPr>
            <a:picLocks noChangeAspect="1"/>
          </p:cNvPicPr>
          <p:nvPr/>
        </p:nvPicPr>
        <p:blipFill>
          <a:blip r:embed="rId3"/>
          <a:srcRect t="-2" b="-2"/>
          <a:stretch/>
        </p:blipFill>
        <p:spPr>
          <a:xfrm>
            <a:off x="919480" y="1694179"/>
            <a:ext cx="3638550" cy="3556000"/>
          </a:xfrm>
          <a:prstGeom prst="roundRect">
            <a:avLst>
              <a:gd name="adj" fmla="val 1429"/>
            </a:avLst>
          </a:prstGeom>
        </p:spPr>
      </p:pic>
      <p:sp>
        <p:nvSpPr>
          <p:cNvPr id="5" name="Text 2"/>
          <p:cNvSpPr/>
          <p:nvPr/>
        </p:nvSpPr>
        <p:spPr>
          <a:xfrm>
            <a:off x="5020310" y="217170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1D7A6E"/>
          </a:solidFill>
          <a:ln/>
        </p:spPr>
        <p:txBody>
          <a:bodyPr wrap="square" lIns="0" tIns="0" rIns="0" bIns="0" rtlCol="0" anchor="t">
            <a:normAutofit/>
          </a:bodyPr>
          <a:lstStyle/>
          <a:p>
            <a:pPr marL="0" indent="0" algn="ctr">
              <a:lnSpc>
                <a:spcPts val="2405"/>
              </a:lnSpc>
              <a:buNone/>
            </a:pPr>
            <a:r>
              <a:rPr lang="en-US" sz="1300" b="1" dirty="0">
                <a:solidFill>
                  <a:srgbClr val="F3F1EC"/>
                </a:solidFill>
                <a:latin typeface="Inter" pitchFamily="34" charset="0"/>
                <a:ea typeface="Inter" pitchFamily="34" charset="-122"/>
                <a:cs typeface="Inter" pitchFamily="34" charset="-120"/>
              </a:rPr>
              <a:t>1</a:t>
            </a:r>
            <a:endParaRPr lang="en-US" sz="1300" dirty="0"/>
          </a:p>
        </p:txBody>
      </p:sp>
      <p:sp>
        <p:nvSpPr>
          <p:cNvPr id="6" name="Text 3"/>
          <p:cNvSpPr/>
          <p:nvPr/>
        </p:nvSpPr>
        <p:spPr>
          <a:xfrm>
            <a:off x="5452110" y="2171700"/>
            <a:ext cx="610490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Pick the algorithm</a:t>
            </a:r>
            <a:endParaRPr lang="en-US" sz="1400" dirty="0"/>
          </a:p>
        </p:txBody>
      </p:sp>
      <p:sp>
        <p:nvSpPr>
          <p:cNvPr id="7" name="Text 4"/>
          <p:cNvSpPr/>
          <p:nvPr/>
        </p:nvSpPr>
        <p:spPr>
          <a:xfrm>
            <a:off x="5452110" y="2440942"/>
            <a:ext cx="610490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Trend Decomposition with MSTL separates the trend from each seasonal cycle</a:t>
            </a:r>
            <a:endParaRPr lang="en-US" sz="1200" dirty="0"/>
          </a:p>
        </p:txBody>
      </p:sp>
      <p:sp>
        <p:nvSpPr>
          <p:cNvPr id="8" name="Text 5"/>
          <p:cNvSpPr/>
          <p:nvPr/>
        </p:nvSpPr>
        <p:spPr>
          <a:xfrm>
            <a:off x="5020310" y="280670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1D7A6E"/>
          </a:solidFill>
          <a:ln/>
        </p:spPr>
        <p:txBody>
          <a:bodyPr wrap="square" lIns="0" tIns="0" rIns="0" bIns="0" rtlCol="0" anchor="t">
            <a:normAutofit/>
          </a:bodyPr>
          <a:lstStyle/>
          <a:p>
            <a:pPr marL="0" indent="0" algn="ctr">
              <a:lnSpc>
                <a:spcPts val="2405"/>
              </a:lnSpc>
              <a:buNone/>
            </a:pPr>
            <a:r>
              <a:rPr lang="en-US" sz="1300" b="1" dirty="0">
                <a:solidFill>
                  <a:srgbClr val="F3F1EC"/>
                </a:solidFill>
                <a:latin typeface="Inter" pitchFamily="34" charset="0"/>
                <a:ea typeface="Inter" pitchFamily="34" charset="-122"/>
                <a:cs typeface="Inter" pitchFamily="34" charset="-120"/>
              </a:rPr>
              <a:t>2</a:t>
            </a:r>
            <a:endParaRPr lang="en-US" sz="1300" dirty="0"/>
          </a:p>
        </p:txBody>
      </p:sp>
      <p:sp>
        <p:nvSpPr>
          <p:cNvPr id="9" name="Text 6"/>
          <p:cNvSpPr/>
          <p:nvPr/>
        </p:nvSpPr>
        <p:spPr>
          <a:xfrm>
            <a:off x="5452110" y="2806700"/>
            <a:ext cx="610490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Set the ranges</a:t>
            </a:r>
            <a:endParaRPr lang="en-US" sz="1400" dirty="0"/>
          </a:p>
        </p:txBody>
      </p:sp>
      <p:sp>
        <p:nvSpPr>
          <p:cNvPr id="10" name="Text 7"/>
          <p:cNvSpPr/>
          <p:nvPr/>
        </p:nvSpPr>
        <p:spPr>
          <a:xfrm>
            <a:off x="5452110" y="3075942"/>
            <a:ext cx="610490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History Jan 2024 – Aug 2026; forecast Sep 2026 – Dec 2027</a:t>
            </a:r>
            <a:endParaRPr lang="en-US" sz="1200" dirty="0"/>
          </a:p>
        </p:txBody>
      </p:sp>
      <p:sp>
        <p:nvSpPr>
          <p:cNvPr id="11" name="Text 8"/>
          <p:cNvSpPr/>
          <p:nvPr/>
        </p:nvSpPr>
        <p:spPr>
          <a:xfrm>
            <a:off x="5020310" y="344170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1D7A6E"/>
          </a:solidFill>
          <a:ln/>
        </p:spPr>
        <p:txBody>
          <a:bodyPr wrap="square" lIns="0" tIns="0" rIns="0" bIns="0" rtlCol="0" anchor="t">
            <a:normAutofit/>
          </a:bodyPr>
          <a:lstStyle/>
          <a:p>
            <a:pPr marL="0" indent="0" algn="ctr">
              <a:lnSpc>
                <a:spcPts val="2405"/>
              </a:lnSpc>
              <a:buNone/>
            </a:pPr>
            <a:r>
              <a:rPr lang="en-US" sz="1300" b="1" dirty="0">
                <a:solidFill>
                  <a:srgbClr val="F3F1EC"/>
                </a:solidFill>
                <a:latin typeface="Inter" pitchFamily="34" charset="0"/>
                <a:ea typeface="Inter" pitchFamily="34" charset="-122"/>
                <a:cs typeface="Inter" pitchFamily="34" charset="-120"/>
              </a:rPr>
              <a:t>3</a:t>
            </a:r>
            <a:endParaRPr lang="en-US" sz="1300" dirty="0"/>
          </a:p>
        </p:txBody>
      </p:sp>
      <p:sp>
        <p:nvSpPr>
          <p:cNvPr id="12" name="Text 9"/>
          <p:cNvSpPr/>
          <p:nvPr/>
        </p:nvSpPr>
        <p:spPr>
          <a:xfrm>
            <a:off x="5452110" y="3441700"/>
            <a:ext cx="610490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Use monthly columns</a:t>
            </a:r>
            <a:endParaRPr lang="en-US" sz="1400" dirty="0"/>
          </a:p>
        </p:txBody>
      </p:sp>
      <p:sp>
        <p:nvSpPr>
          <p:cNvPr id="13" name="Text 10"/>
          <p:cNvSpPr/>
          <p:nvPr/>
        </p:nvSpPr>
        <p:spPr>
          <a:xfrm>
            <a:off x="5452110" y="3710942"/>
            <a:ext cx="610490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With yearly columns there is no seasonality to find, so Run stays disabled, as in this screenshot</a:t>
            </a:r>
            <a:endParaRPr lang="en-US" sz="1200" dirty="0"/>
          </a:p>
        </p:txBody>
      </p:sp>
      <p:sp>
        <p:nvSpPr>
          <p:cNvPr id="14" name="Text 11"/>
          <p:cNvSpPr/>
          <p:nvPr/>
        </p:nvSpPr>
        <p:spPr>
          <a:xfrm>
            <a:off x="5020310" y="4290064"/>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1D7A6E"/>
          </a:solidFill>
          <a:ln/>
        </p:spPr>
        <p:txBody>
          <a:bodyPr wrap="square" lIns="0" tIns="0" rIns="0" bIns="0" rtlCol="0" anchor="t">
            <a:normAutofit/>
          </a:bodyPr>
          <a:lstStyle/>
          <a:p>
            <a:pPr marL="0" indent="0" algn="ctr">
              <a:lnSpc>
                <a:spcPts val="2405"/>
              </a:lnSpc>
              <a:buNone/>
            </a:pPr>
            <a:r>
              <a:rPr lang="en-US" sz="1300" b="1" dirty="0">
                <a:solidFill>
                  <a:srgbClr val="F3F1EC"/>
                </a:solidFill>
                <a:latin typeface="Inter" pitchFamily="34" charset="0"/>
                <a:ea typeface="Inter" pitchFamily="34" charset="-122"/>
                <a:cs typeface="Inter" pitchFamily="34" charset="-120"/>
              </a:rPr>
              <a:t>4</a:t>
            </a:r>
            <a:endParaRPr lang="en-US" sz="1300" dirty="0"/>
          </a:p>
        </p:txBody>
      </p:sp>
      <p:sp>
        <p:nvSpPr>
          <p:cNvPr id="15" name="Text 12"/>
          <p:cNvSpPr/>
          <p:nvPr/>
        </p:nvSpPr>
        <p:spPr>
          <a:xfrm>
            <a:off x="5452110" y="4290064"/>
            <a:ext cx="610490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Run and save</a:t>
            </a:r>
            <a:endParaRPr lang="en-US" sz="1400" dirty="0"/>
          </a:p>
        </p:txBody>
      </p:sp>
      <p:sp>
        <p:nvSpPr>
          <p:cNvPr id="16" name="Text 13"/>
          <p:cNvSpPr/>
          <p:nvPr/>
        </p:nvSpPr>
        <p:spPr>
          <a:xfrm>
            <a:off x="5452110" y="4559300"/>
            <a:ext cx="610490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Predict writes into the forecast measure; actuals are never changed</a:t>
            </a:r>
            <a:endParaRPr lang="en-US" sz="1200" dirty="0"/>
          </a:p>
        </p:txBody>
      </p:sp>
      <p:sp>
        <p:nvSpPr>
          <p:cNvPr id="17" name="Text 14"/>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18"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WALKTHROUGH · STEP 2</a:t>
            </a:r>
          </a:p>
        </p:txBody>
      </p:sp>
    </p:spTree>
    <p:extLst>
      <p:ext uri="{BB962C8B-B14F-4D97-AF65-F5344CB8AC3E}">
        <p14:creationId xmlns:p14="http://schemas.microsoft.com/office/powerpoint/2010/main" val="3916072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Column guide: the volume measures</a:t>
            </a:r>
            <a:endParaRPr lang="en-US" sz="3000" dirty="0"/>
          </a:p>
        </p:txBody>
      </p:sp>
      <p:graphicFrame>
        <p:nvGraphicFramePr>
          <p:cNvPr id="5" name="Table 0"/>
          <p:cNvGraphicFramePr>
            <a:graphicFrameLocks noGrp="1"/>
          </p:cNvGraphicFramePr>
          <p:nvPr/>
        </p:nvGraphicFramePr>
        <p:xfrm>
          <a:off x="924560" y="1699260"/>
          <a:ext cx="10353040" cy="2768219"/>
        </p:xfrm>
        <a:graphic>
          <a:graphicData uri="http://schemas.openxmlformats.org/drawingml/2006/table">
            <a:tbl>
              <a:tblPr firstRow="1"/>
              <a:tblGrid>
                <a:gridCol w="1863547">
                  <a:extLst>
                    <a:ext uri="{9D8B030D-6E8A-4147-A177-3AD203B41FA5}">
                      <a16:colId xmlns:a16="http://schemas.microsoft.com/office/drawing/2014/main" val="20000"/>
                    </a:ext>
                  </a:extLst>
                </a:gridCol>
                <a:gridCol w="4555338">
                  <a:extLst>
                    <a:ext uri="{9D8B030D-6E8A-4147-A177-3AD203B41FA5}">
                      <a16:colId xmlns:a16="http://schemas.microsoft.com/office/drawing/2014/main" val="20001"/>
                    </a:ext>
                  </a:extLst>
                </a:gridCol>
                <a:gridCol w="2070608">
                  <a:extLst>
                    <a:ext uri="{9D8B030D-6E8A-4147-A177-3AD203B41FA5}">
                      <a16:colId xmlns:a16="http://schemas.microsoft.com/office/drawing/2014/main" val="20002"/>
                    </a:ext>
                  </a:extLst>
                </a:gridCol>
                <a:gridCol w="1863547">
                  <a:extLst>
                    <a:ext uri="{9D8B030D-6E8A-4147-A177-3AD203B41FA5}">
                      <a16:colId xmlns:a16="http://schemas.microsoft.com/office/drawing/2014/main" val="20003"/>
                    </a:ext>
                  </a:extLst>
                </a:gridCol>
              </a:tblGrid>
              <a:tr h="558800">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Column</a:t>
                      </a:r>
                      <a:endParaRPr lang="en-US" sz="13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What it means</a:t>
                      </a:r>
                      <a:endParaRPr lang="en-US" sz="13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Source</a:t>
                      </a:r>
                      <a:endParaRPr lang="en-US" sz="13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ICU example</a:t>
                      </a:r>
                      <a:endParaRPr lang="en-US" sz="13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extLst>
                  <a:ext uri="{0D108BD9-81ED-4DB2-BD59-A6C34878D82A}">
                    <a16:rowId xmlns:a16="http://schemas.microsoft.com/office/drawing/2014/main" val="10000"/>
                  </a:ext>
                </a:extLst>
              </a:tr>
              <a:tr h="819150">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Patient Days</a:t>
                      </a:r>
                      <a:endParaRPr lang="en-US" sz="13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Actual patient days. One patient in a bed for one day is one patient day, including observation patients. Blank for 2027.</a:t>
                      </a:r>
                      <a:endParaRPr lang="en-US" sz="13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Semantic model, actuals only</a:t>
                      </a:r>
                      <a:endParaRPr lang="en-US" sz="13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7,040 in 2024</a:t>
                      </a:r>
                      <a:endParaRPr lang="en-US" sz="13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1"/>
                  </a:ext>
                </a:extLst>
              </a:tr>
              <a:tr h="588010">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Target HPPD</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Hours per patient day: the nursing hours each patient day needs. Sicker patients need more.</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Unit target set by nursing leadership</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17.0 hours (Med-Surg: 8.5)</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2"/>
                  </a:ext>
                </a:extLst>
              </a:tr>
              <a:tr h="588010">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Forecast 2027</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One continuous patient-day line. Actuals for Jan 2024 – Aug 2026, Predict’s forecast for Sep 2026 – Dec 2027.</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Forecast measure filled by Predict</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7,300 in 2027</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extLst>
                  <a:ext uri="{0D108BD9-81ED-4DB2-BD59-A6C34878D82A}">
                    <a16:rowId xmlns:a16="http://schemas.microsoft.com/office/drawing/2014/main" val="10003"/>
                  </a:ext>
                </a:extLst>
              </a:tr>
            </a:tbl>
          </a:graphicData>
        </a:graphic>
      </p:graphicFrame>
      <p:sp>
        <p:nvSpPr>
          <p:cNvPr id="6" name="Text 3"/>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7"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REFERENCE · VOLUME MEASURES</a:t>
            </a:r>
          </a:p>
        </p:txBody>
      </p:sp>
    </p:spTree>
    <p:extLst>
      <p:ext uri="{BB962C8B-B14F-4D97-AF65-F5344CB8AC3E}">
        <p14:creationId xmlns:p14="http://schemas.microsoft.com/office/powerpoint/2010/main" val="1779891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Column guide: the staffing measures</a:t>
            </a:r>
            <a:endParaRPr lang="en-US" sz="3000" dirty="0"/>
          </a:p>
        </p:txBody>
      </p:sp>
      <p:graphicFrame>
        <p:nvGraphicFramePr>
          <p:cNvPr id="5" name="Table 0"/>
          <p:cNvGraphicFramePr>
            <a:graphicFrameLocks noGrp="1"/>
          </p:cNvGraphicFramePr>
          <p:nvPr/>
        </p:nvGraphicFramePr>
        <p:xfrm>
          <a:off x="924560" y="1699260"/>
          <a:ext cx="10353039" cy="2272030"/>
        </p:xfrm>
        <a:graphic>
          <a:graphicData uri="http://schemas.openxmlformats.org/drawingml/2006/table">
            <a:tbl>
              <a:tblPr firstRow="1"/>
              <a:tblGrid>
                <a:gridCol w="1863547">
                  <a:extLst>
                    <a:ext uri="{9D8B030D-6E8A-4147-A177-3AD203B41FA5}">
                      <a16:colId xmlns:a16="http://schemas.microsoft.com/office/drawing/2014/main" val="20000"/>
                    </a:ext>
                  </a:extLst>
                </a:gridCol>
                <a:gridCol w="3934155">
                  <a:extLst>
                    <a:ext uri="{9D8B030D-6E8A-4147-A177-3AD203B41FA5}">
                      <a16:colId xmlns:a16="http://schemas.microsoft.com/office/drawing/2014/main" val="20001"/>
                    </a:ext>
                  </a:extLst>
                </a:gridCol>
                <a:gridCol w="2691790">
                  <a:extLst>
                    <a:ext uri="{9D8B030D-6E8A-4147-A177-3AD203B41FA5}">
                      <a16:colId xmlns:a16="http://schemas.microsoft.com/office/drawing/2014/main" val="20002"/>
                    </a:ext>
                  </a:extLst>
                </a:gridCol>
                <a:gridCol w="1863547">
                  <a:extLst>
                    <a:ext uri="{9D8B030D-6E8A-4147-A177-3AD203B41FA5}">
                      <a16:colId xmlns:a16="http://schemas.microsoft.com/office/drawing/2014/main" val="20003"/>
                    </a:ext>
                  </a:extLst>
                </a:gridCol>
              </a:tblGrid>
              <a:tr h="508000">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Column</a:t>
                      </a:r>
                      <a:endParaRPr lang="en-US" sz="13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What it means</a:t>
                      </a:r>
                      <a:endParaRPr lang="en-US" sz="13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Formula</a:t>
                      </a:r>
                      <a:endParaRPr lang="en-US" sz="13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ICU 2027</a:t>
                      </a:r>
                      <a:endParaRPr lang="en-US" sz="13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extLst>
                  <a:ext uri="{0D108BD9-81ED-4DB2-BD59-A6C34878D82A}">
                    <a16:rowId xmlns:a16="http://schemas.microsoft.com/office/drawing/2014/main" val="10000"/>
                  </a:ext>
                </a:extLst>
              </a:tr>
              <a:tr h="588010">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Nursing Hours</a:t>
                      </a:r>
                      <a:endParaRPr lang="en-US" sz="13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Direct-care nursing hours needed to cover the forecast volume</a:t>
                      </a:r>
                      <a:endParaRPr lang="en-US" sz="13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Forecast 2027 × Target HPPD</a:t>
                      </a:r>
                      <a:endParaRPr lang="en-US" sz="13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≈124,100</a:t>
                      </a:r>
                      <a:endParaRPr lang="en-US" sz="13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1"/>
                  </a:ext>
                </a:extLst>
              </a:tr>
              <a:tr h="588010">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Paid FTE</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Full-time staff needed on payroll, averaged over the period, with a buffer for PTO</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Nursing Hours ÷ 0.885 ÷ 173.33</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≈67</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2"/>
                  </a:ext>
                </a:extLst>
              </a:tr>
              <a:tr h="588010">
                <a:tc>
                  <a:txBody>
                    <a:bodyPr/>
                    <a:lstStyle/>
                    <a:p>
                      <a:pPr marL="0" indent="0">
                        <a:lnSpc>
                          <a:spcPts val="1820"/>
                        </a:lnSpc>
                        <a:buNone/>
                      </a:pPr>
                      <a:r>
                        <a:rPr lang="en-US" sz="1400" b="1" dirty="0">
                          <a:solidFill>
                            <a:srgbClr val="F3F1EC"/>
                          </a:solidFill>
                          <a:latin typeface="Inter" pitchFamily="34" charset="0"/>
                          <a:ea typeface="Inter" pitchFamily="34" charset="-122"/>
                          <a:cs typeface="Inter" pitchFamily="34" charset="-120"/>
                        </a:rPr>
                        <a:t>Labor Cost</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What those staff cost, benefits included, at 2027 rates</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Nursing Hours ÷ 0.885 × $41.91 × 1.285</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nSpc>
                          <a:spcPts val="1820"/>
                        </a:lnSpc>
                        <a:buNone/>
                      </a:pPr>
                      <a:r>
                        <a:rPr lang="en-US" sz="1400" dirty="0">
                          <a:solidFill>
                            <a:srgbClr val="D6D2C8"/>
                          </a:solidFill>
                          <a:latin typeface="Inter" pitchFamily="34" charset="0"/>
                          <a:ea typeface="Inter" pitchFamily="34" charset="-122"/>
                          <a:cs typeface="Inter" pitchFamily="34" charset="-120"/>
                        </a:rPr>
                        <a:t>≈$7.6M</a:t>
                      </a:r>
                      <a:endParaRPr lang="en-US" sz="13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extLst>
                  <a:ext uri="{0D108BD9-81ED-4DB2-BD59-A6C34878D82A}">
                    <a16:rowId xmlns:a16="http://schemas.microsoft.com/office/drawing/2014/main" val="10003"/>
                  </a:ext>
                </a:extLst>
              </a:tr>
            </a:tbl>
          </a:graphicData>
        </a:graphic>
      </p:graphicFrame>
      <p:sp>
        <p:nvSpPr>
          <p:cNvPr id="6" name="Shape 3"/>
          <p:cNvSpPr/>
          <p:nvPr/>
        </p:nvSpPr>
        <p:spPr>
          <a:xfrm>
            <a:off x="812800" y="4277364"/>
            <a:ext cx="10566400" cy="609600"/>
          </a:xfrm>
          <a:prstGeom prst="roundRect">
            <a:avLst>
              <a:gd name="adj" fmla="val 16667"/>
            </a:avLst>
          </a:prstGeom>
          <a:solidFill>
            <a:srgbClr val="173A47"/>
          </a:solidFill>
          <a:ln/>
        </p:spPr>
        <p:txBody>
          <a:bodyPr/>
          <a:lstStyle/>
          <a:p>
            <a:endParaRPr lang="en-US"/>
          </a:p>
        </p:txBody>
      </p:sp>
      <p:pic>
        <p:nvPicPr>
          <p:cNvPr id="7" name="Image 0" descr="Lightbulb"/>
          <p:cNvPicPr>
            <a:picLocks noChangeAspect="1"/>
          </p:cNvPicPr>
          <p:nvPr/>
        </p:nvPicPr>
        <p:blipFill>
          <a:blip r:embed="rId3"/>
          <a:srcRect/>
          <a:stretch/>
        </p:blipFill>
        <p:spPr>
          <a:xfrm>
            <a:off x="1066800" y="4455164"/>
            <a:ext cx="254000" cy="254000"/>
          </a:xfrm>
          <a:prstGeom prst="rect">
            <a:avLst/>
          </a:prstGeom>
        </p:spPr>
      </p:pic>
      <p:sp>
        <p:nvSpPr>
          <p:cNvPr id="8" name="Text 4"/>
          <p:cNvSpPr/>
          <p:nvPr/>
        </p:nvSpPr>
        <p:spPr>
          <a:xfrm>
            <a:off x="1473200" y="4457700"/>
            <a:ext cx="985589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3F1EC"/>
                </a:solidFill>
                <a:latin typeface="Inter" pitchFamily="34" charset="0"/>
                <a:ea typeface="Inter" pitchFamily="34" charset="-122"/>
                <a:cs typeface="Inter" pitchFamily="34" charset="-120"/>
              </a:rPr>
              <a:t>Hours and cost </a:t>
            </a:r>
            <a:r>
              <a:rPr lang="en-US" sz="1400" b="1" dirty="0">
                <a:solidFill>
                  <a:srgbClr val="F3F1EC"/>
                </a:solidFill>
                <a:latin typeface="Inter" pitchFamily="34" charset="0"/>
                <a:ea typeface="Inter" pitchFamily="34" charset="-122"/>
                <a:cs typeface="Inter" pitchFamily="34" charset="-120"/>
              </a:rPr>
              <a:t>add up</a:t>
            </a:r>
            <a:r>
              <a:rPr lang="en-US" sz="1400" dirty="0">
                <a:solidFill>
                  <a:srgbClr val="F3F1EC"/>
                </a:solidFill>
                <a:latin typeface="Inter" pitchFamily="34" charset="0"/>
                <a:ea typeface="Inter" pitchFamily="34" charset="-122"/>
                <a:cs typeface="Inter" pitchFamily="34" charset="-120"/>
              </a:rPr>
              <a:t> across months. FTEs </a:t>
            </a:r>
            <a:r>
              <a:rPr lang="en-US" sz="1400" b="1" dirty="0">
                <a:solidFill>
                  <a:srgbClr val="F3F1EC"/>
                </a:solidFill>
                <a:latin typeface="Inter" pitchFamily="34" charset="0"/>
                <a:ea typeface="Inter" pitchFamily="34" charset="-122"/>
                <a:cs typeface="Inter" pitchFamily="34" charset="-120"/>
              </a:rPr>
              <a:t>average</a:t>
            </a:r>
            <a:r>
              <a:rPr lang="en-US" sz="1400" dirty="0">
                <a:solidFill>
                  <a:srgbClr val="F3F1EC"/>
                </a:solidFill>
                <a:latin typeface="Inter" pitchFamily="34" charset="0"/>
                <a:ea typeface="Inter" pitchFamily="34" charset="-122"/>
                <a:cs typeface="Inter" pitchFamily="34" charset="-120"/>
              </a:rPr>
              <a:t>: twelve months of 67 FTEs is still 67 people.</a:t>
            </a:r>
            <a:endParaRPr lang="en-US" sz="1400" dirty="0"/>
          </a:p>
        </p:txBody>
      </p:sp>
      <p:sp>
        <p:nvSpPr>
          <p:cNvPr id="9" name="Text 5"/>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10"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REFERENCE · STAFFING MEASURES</a:t>
            </a:r>
          </a:p>
        </p:txBody>
      </p:sp>
    </p:spTree>
    <p:extLst>
      <p:ext uri="{BB962C8B-B14F-4D97-AF65-F5344CB8AC3E}">
        <p14:creationId xmlns:p14="http://schemas.microsoft.com/office/powerpoint/2010/main" val="647842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Four constants turn hours into people and dollars</a:t>
            </a:r>
            <a:endParaRPr lang="en-US" sz="3000" dirty="0"/>
          </a:p>
        </p:txBody>
      </p:sp>
      <p:sp>
        <p:nvSpPr>
          <p:cNvPr id="3" name="Shape 1"/>
          <p:cNvSpPr/>
          <p:nvPr/>
        </p:nvSpPr>
        <p:spPr>
          <a:xfrm>
            <a:off x="815975" y="1778000"/>
            <a:ext cx="2482850" cy="2692400"/>
          </a:xfrm>
          <a:prstGeom prst="roundRect">
            <a:avLst>
              <a:gd name="adj" fmla="val 4441"/>
            </a:avLst>
          </a:prstGeom>
          <a:solidFill>
            <a:srgbClr val="1E3350"/>
          </a:solidFill>
          <a:ln w="6350">
            <a:solidFill>
              <a:srgbClr val="2E4A6B"/>
            </a:solidFill>
            <a:prstDash val="solid"/>
          </a:ln>
        </p:spPr>
        <p:txBody>
          <a:bodyPr/>
          <a:lstStyle/>
          <a:p>
            <a:endParaRPr lang="en-US"/>
          </a:p>
        </p:txBody>
      </p:sp>
      <p:sp>
        <p:nvSpPr>
          <p:cNvPr id="4" name="Text 2"/>
          <p:cNvSpPr/>
          <p:nvPr/>
        </p:nvSpPr>
        <p:spPr>
          <a:xfrm>
            <a:off x="1071880" y="2082800"/>
            <a:ext cx="2030171" cy="660400"/>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6CC2B4"/>
                </a:solidFill>
                <a:latin typeface="Source Serif 4" pitchFamily="18" charset="0"/>
                <a:ea typeface="Source Serif 4" pitchFamily="18" charset="-122"/>
                <a:cs typeface="Source Serif 4" pitchFamily="18" charset="-120"/>
              </a:rPr>
              <a:t>0.885</a:t>
            </a:r>
            <a:endParaRPr lang="en-US" sz="4000" dirty="0"/>
          </a:p>
        </p:txBody>
      </p:sp>
      <p:sp>
        <p:nvSpPr>
          <p:cNvPr id="5" name="Text 3"/>
          <p:cNvSpPr/>
          <p:nvPr/>
        </p:nvSpPr>
        <p:spPr>
          <a:xfrm>
            <a:off x="1071880" y="2895600"/>
            <a:ext cx="2030171" cy="33020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C"/>
                </a:solidFill>
                <a:latin typeface="Inter" pitchFamily="34" charset="0"/>
                <a:ea typeface="Inter" pitchFamily="34" charset="-122"/>
                <a:cs typeface="Inter" pitchFamily="34" charset="-120"/>
              </a:rPr>
              <a:t>Worked share</a:t>
            </a:r>
            <a:endParaRPr lang="en-US" sz="1800" dirty="0"/>
          </a:p>
        </p:txBody>
      </p:sp>
      <p:sp>
        <p:nvSpPr>
          <p:cNvPr id="6" name="Text 4"/>
          <p:cNvSpPr/>
          <p:nvPr/>
        </p:nvSpPr>
        <p:spPr>
          <a:xfrm>
            <a:off x="1071880" y="3352800"/>
            <a:ext cx="2030171" cy="965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5CCD6"/>
                </a:solidFill>
                <a:latin typeface="Inter" pitchFamily="34" charset="0"/>
                <a:ea typeface="Inter" pitchFamily="34" charset="-122"/>
                <a:cs typeface="Inter" pitchFamily="34" charset="-120"/>
              </a:rPr>
              <a:t>11.5% of paid time goes to PTO, holidays and sick days</a:t>
            </a:r>
            <a:endParaRPr lang="en-US" sz="1300" dirty="0"/>
          </a:p>
        </p:txBody>
      </p:sp>
      <p:sp>
        <p:nvSpPr>
          <p:cNvPr id="7" name="Shape 5"/>
          <p:cNvSpPr/>
          <p:nvPr/>
        </p:nvSpPr>
        <p:spPr>
          <a:xfrm>
            <a:off x="3508375" y="1778000"/>
            <a:ext cx="2482850" cy="2692400"/>
          </a:xfrm>
          <a:prstGeom prst="roundRect">
            <a:avLst>
              <a:gd name="adj" fmla="val 4441"/>
            </a:avLst>
          </a:prstGeom>
          <a:solidFill>
            <a:srgbClr val="1E3350"/>
          </a:solidFill>
          <a:ln w="6350">
            <a:solidFill>
              <a:srgbClr val="2E4A6B"/>
            </a:solidFill>
            <a:prstDash val="solid"/>
          </a:ln>
        </p:spPr>
        <p:txBody>
          <a:bodyPr/>
          <a:lstStyle/>
          <a:p>
            <a:endParaRPr lang="en-US"/>
          </a:p>
        </p:txBody>
      </p:sp>
      <p:sp>
        <p:nvSpPr>
          <p:cNvPr id="8" name="Text 6"/>
          <p:cNvSpPr/>
          <p:nvPr/>
        </p:nvSpPr>
        <p:spPr>
          <a:xfrm>
            <a:off x="3764280" y="2082800"/>
            <a:ext cx="2030171" cy="660400"/>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6CC2B4"/>
                </a:solidFill>
                <a:latin typeface="Source Serif 4" pitchFamily="18" charset="0"/>
                <a:ea typeface="Source Serif 4" pitchFamily="18" charset="-122"/>
                <a:cs typeface="Source Serif 4" pitchFamily="18" charset="-120"/>
              </a:rPr>
              <a:t>173.33</a:t>
            </a:r>
            <a:endParaRPr lang="en-US" sz="4000" dirty="0"/>
          </a:p>
        </p:txBody>
      </p:sp>
      <p:sp>
        <p:nvSpPr>
          <p:cNvPr id="9" name="Text 7"/>
          <p:cNvSpPr/>
          <p:nvPr/>
        </p:nvSpPr>
        <p:spPr>
          <a:xfrm>
            <a:off x="3764280" y="2895600"/>
            <a:ext cx="2030171" cy="33020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C"/>
                </a:solidFill>
                <a:latin typeface="Inter" pitchFamily="34" charset="0"/>
                <a:ea typeface="Inter" pitchFamily="34" charset="-122"/>
                <a:cs typeface="Inter" pitchFamily="34" charset="-120"/>
              </a:rPr>
              <a:t>Hours per FTE</a:t>
            </a:r>
            <a:endParaRPr lang="en-US" sz="1800" dirty="0"/>
          </a:p>
        </p:txBody>
      </p:sp>
      <p:sp>
        <p:nvSpPr>
          <p:cNvPr id="10" name="Text 8"/>
          <p:cNvSpPr/>
          <p:nvPr/>
        </p:nvSpPr>
        <p:spPr>
          <a:xfrm>
            <a:off x="3764280" y="3352800"/>
            <a:ext cx="2030171" cy="965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5CCD6"/>
                </a:solidFill>
                <a:latin typeface="Inter" pitchFamily="34" charset="0"/>
                <a:ea typeface="Inter" pitchFamily="34" charset="-122"/>
                <a:cs typeface="Inter" pitchFamily="34" charset="-120"/>
              </a:rPr>
              <a:t>Paid hours in one month for one full-time person: 2,080 ÷ 12</a:t>
            </a:r>
            <a:endParaRPr lang="en-US" sz="1300" dirty="0"/>
          </a:p>
        </p:txBody>
      </p:sp>
      <p:sp>
        <p:nvSpPr>
          <p:cNvPr id="11" name="Shape 9"/>
          <p:cNvSpPr/>
          <p:nvPr/>
        </p:nvSpPr>
        <p:spPr>
          <a:xfrm>
            <a:off x="6200775" y="1778000"/>
            <a:ext cx="2482850" cy="2692400"/>
          </a:xfrm>
          <a:prstGeom prst="roundRect">
            <a:avLst>
              <a:gd name="adj" fmla="val 4441"/>
            </a:avLst>
          </a:prstGeom>
          <a:solidFill>
            <a:srgbClr val="1E3350"/>
          </a:solidFill>
          <a:ln w="6350">
            <a:solidFill>
              <a:srgbClr val="2E4A6B"/>
            </a:solidFill>
            <a:prstDash val="solid"/>
          </a:ln>
        </p:spPr>
        <p:txBody>
          <a:bodyPr/>
          <a:lstStyle/>
          <a:p>
            <a:endParaRPr lang="en-US"/>
          </a:p>
        </p:txBody>
      </p:sp>
      <p:sp>
        <p:nvSpPr>
          <p:cNvPr id="12" name="Text 10"/>
          <p:cNvSpPr/>
          <p:nvPr/>
        </p:nvSpPr>
        <p:spPr>
          <a:xfrm>
            <a:off x="6456680" y="2082800"/>
            <a:ext cx="2030171" cy="660400"/>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6CC2B4"/>
                </a:solidFill>
                <a:latin typeface="Source Serif 4" pitchFamily="18" charset="0"/>
                <a:ea typeface="Source Serif 4" pitchFamily="18" charset="-122"/>
                <a:cs typeface="Source Serif 4" pitchFamily="18" charset="-120"/>
              </a:rPr>
              <a:t>$41.91</a:t>
            </a:r>
            <a:endParaRPr lang="en-US" sz="4000" dirty="0"/>
          </a:p>
        </p:txBody>
      </p:sp>
      <p:sp>
        <p:nvSpPr>
          <p:cNvPr id="13" name="Text 11"/>
          <p:cNvSpPr/>
          <p:nvPr/>
        </p:nvSpPr>
        <p:spPr>
          <a:xfrm>
            <a:off x="6456680" y="2895600"/>
            <a:ext cx="2030171" cy="33020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C"/>
                </a:solidFill>
                <a:latin typeface="Inter" pitchFamily="34" charset="0"/>
                <a:ea typeface="Inter" pitchFamily="34" charset="-122"/>
                <a:cs typeface="Inter" pitchFamily="34" charset="-120"/>
              </a:rPr>
              <a:t>Blended wage</a:t>
            </a:r>
            <a:endParaRPr lang="en-US" sz="1800" dirty="0"/>
          </a:p>
        </p:txBody>
      </p:sp>
      <p:sp>
        <p:nvSpPr>
          <p:cNvPr id="14" name="Text 12"/>
          <p:cNvSpPr/>
          <p:nvPr/>
        </p:nvSpPr>
        <p:spPr>
          <a:xfrm>
            <a:off x="6456680" y="3352800"/>
            <a:ext cx="2030171" cy="965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5CCD6"/>
                </a:solidFill>
                <a:latin typeface="Inter" pitchFamily="34" charset="0"/>
                <a:ea typeface="Inter" pitchFamily="34" charset="-122"/>
                <a:cs typeface="Inter" pitchFamily="34" charset="-120"/>
              </a:rPr>
              <a:t>Average hourly rate across RNs, LPNs and nursing assistants, 2027</a:t>
            </a:r>
            <a:endParaRPr lang="en-US" sz="1300" dirty="0"/>
          </a:p>
        </p:txBody>
      </p:sp>
      <p:sp>
        <p:nvSpPr>
          <p:cNvPr id="15" name="Shape 13"/>
          <p:cNvSpPr/>
          <p:nvPr/>
        </p:nvSpPr>
        <p:spPr>
          <a:xfrm>
            <a:off x="8893175" y="1778000"/>
            <a:ext cx="2482850" cy="2692400"/>
          </a:xfrm>
          <a:prstGeom prst="roundRect">
            <a:avLst>
              <a:gd name="adj" fmla="val 4441"/>
            </a:avLst>
          </a:prstGeom>
          <a:solidFill>
            <a:srgbClr val="1E3350"/>
          </a:solidFill>
          <a:ln w="6350">
            <a:solidFill>
              <a:srgbClr val="2E4A6B"/>
            </a:solidFill>
            <a:prstDash val="solid"/>
          </a:ln>
        </p:spPr>
        <p:txBody>
          <a:bodyPr/>
          <a:lstStyle/>
          <a:p>
            <a:endParaRPr lang="en-US"/>
          </a:p>
        </p:txBody>
      </p:sp>
      <p:sp>
        <p:nvSpPr>
          <p:cNvPr id="16" name="Text 14"/>
          <p:cNvSpPr/>
          <p:nvPr/>
        </p:nvSpPr>
        <p:spPr>
          <a:xfrm>
            <a:off x="9149080" y="2082800"/>
            <a:ext cx="2030171" cy="660400"/>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6CC2B4"/>
                </a:solidFill>
                <a:latin typeface="Source Serif 4" pitchFamily="18" charset="0"/>
                <a:ea typeface="Source Serif 4" pitchFamily="18" charset="-122"/>
                <a:cs typeface="Source Serif 4" pitchFamily="18" charset="-120"/>
              </a:rPr>
              <a:t>1.285</a:t>
            </a:r>
            <a:endParaRPr lang="en-US" sz="4000" dirty="0"/>
          </a:p>
        </p:txBody>
      </p:sp>
      <p:sp>
        <p:nvSpPr>
          <p:cNvPr id="17" name="Text 15"/>
          <p:cNvSpPr/>
          <p:nvPr/>
        </p:nvSpPr>
        <p:spPr>
          <a:xfrm>
            <a:off x="9149080" y="2895600"/>
            <a:ext cx="2030171" cy="33020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C"/>
                </a:solidFill>
                <a:latin typeface="Inter" pitchFamily="34" charset="0"/>
                <a:ea typeface="Inter" pitchFamily="34" charset="-122"/>
                <a:cs typeface="Inter" pitchFamily="34" charset="-120"/>
              </a:rPr>
              <a:t>Benefits load</a:t>
            </a:r>
            <a:endParaRPr lang="en-US" sz="1800" dirty="0"/>
          </a:p>
        </p:txBody>
      </p:sp>
      <p:sp>
        <p:nvSpPr>
          <p:cNvPr id="18" name="Text 16"/>
          <p:cNvSpPr/>
          <p:nvPr/>
        </p:nvSpPr>
        <p:spPr>
          <a:xfrm>
            <a:off x="9149080" y="3352800"/>
            <a:ext cx="2030171" cy="965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5CCD6"/>
                </a:solidFill>
                <a:latin typeface="Inter" pitchFamily="34" charset="0"/>
                <a:ea typeface="Inter" pitchFamily="34" charset="-122"/>
                <a:cs typeface="Inter" pitchFamily="34" charset="-120"/>
              </a:rPr>
              <a:t>Adds 28.5% for health, retirement and payroll taxes</a:t>
            </a:r>
            <a:endParaRPr lang="en-US" sz="1300" dirty="0"/>
          </a:p>
        </p:txBody>
      </p:sp>
      <p:sp>
        <p:nvSpPr>
          <p:cNvPr id="30" name="Insight band"/>
          <p:cNvSpPr/>
          <p:nvPr/>
        </p:nvSpPr>
        <p:spPr>
          <a:xfrm>
            <a:off x="812800" y="4699000"/>
            <a:ext cx="10566400" cy="914400"/>
          </a:xfrm>
          <a:prstGeom prst="rect">
            <a:avLst/>
          </a:prstGeom>
          <a:solidFill>
            <a:srgbClr val="173A47"/>
          </a:solidFill>
          <a:ln>
            <a:noFill/>
          </a:ln>
        </p:spPr>
        <p:txBody>
          <a:bodyPr/>
          <a:lstStyle/>
          <a:p>
            <a:endParaRPr lang="en-US"/>
          </a:p>
        </p:txBody>
      </p:sp>
      <p:sp>
        <p:nvSpPr>
          <p:cNvPr id="31" name="Insight bar"/>
          <p:cNvSpPr/>
          <p:nvPr/>
        </p:nvSpPr>
        <p:spPr>
          <a:xfrm>
            <a:off x="812800" y="4699000"/>
            <a:ext cx="50800" cy="914400"/>
          </a:xfrm>
          <a:prstGeom prst="rect">
            <a:avLst/>
          </a:prstGeom>
          <a:solidFill>
            <a:srgbClr val="6CC2B4"/>
          </a:solidFill>
          <a:ln>
            <a:noFill/>
          </a:ln>
        </p:spPr>
        <p:txBody>
          <a:bodyPr/>
          <a:lstStyle/>
          <a:p>
            <a:endParaRPr lang="en-US"/>
          </a:p>
        </p:txBody>
      </p:sp>
      <p:sp>
        <p:nvSpPr>
          <p:cNvPr id="19" name="Text 17"/>
          <p:cNvSpPr/>
          <p:nvPr/>
        </p:nvSpPr>
        <p:spPr>
          <a:xfrm>
            <a:off x="1168400" y="4826000"/>
            <a:ext cx="10033000" cy="660400"/>
          </a:xfrm>
          <a:prstGeom prst="rect">
            <a:avLst/>
          </a:prstGeom>
          <a:noFill/>
          <a:ln/>
        </p:spPr>
        <p:txBody>
          <a:bodyPr wrap="square" lIns="0" tIns="0" rIns="0" bIns="0" rtlCol="0" anchor="ctr">
            <a:normAutofit/>
          </a:bodyPr>
          <a:lstStyle/>
          <a:p>
            <a:pPr marL="0" indent="0" algn="l">
              <a:lnSpc>
                <a:spcPts val="2100"/>
              </a:lnSpc>
              <a:buNone/>
            </a:pPr>
            <a:r>
              <a:rPr lang="en-US" sz="1500" dirty="0">
                <a:solidFill>
                  <a:srgbClr val="F3F1EC"/>
                </a:solidFill>
                <a:latin typeface="Inter" pitchFamily="34" charset="0"/>
                <a:ea typeface="Inter" pitchFamily="34" charset="-122"/>
                <a:cs typeface="Inter" pitchFamily="34" charset="-120"/>
              </a:rPr>
              <a:t>The chain in one line: patient days × HPPD = nursing hours → ÷ hours per nurse = FTEs → × wage and benefits = cost.</a:t>
            </a:r>
            <a:endParaRPr lang="en-US" sz="1500" dirty="0"/>
          </a:p>
        </p:txBody>
      </p:sp>
      <p:sp>
        <p:nvSpPr>
          <p:cNvPr id="20" name="Text 18"/>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21"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REFERENCE · PLANNING CONSTANTS</a:t>
            </a:r>
          </a:p>
        </p:txBody>
      </p:sp>
    </p:spTree>
    <p:extLst>
      <p:ext uri="{BB962C8B-B14F-4D97-AF65-F5344CB8AC3E}">
        <p14:creationId xmlns:p14="http://schemas.microsoft.com/office/powerpoint/2010/main" val="2188666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Predict forecasts 94,180 patient days for 2027</a:t>
            </a:r>
            <a:endParaRPr lang="en-US" sz="3000" dirty="0"/>
          </a:p>
        </p:txBody>
      </p:sp>
      <p:sp>
        <p:nvSpPr>
          <p:cNvPr id="3" name="Shape 1"/>
          <p:cNvSpPr/>
          <p:nvPr/>
        </p:nvSpPr>
        <p:spPr>
          <a:xfrm>
            <a:off x="815975" y="1929767"/>
            <a:ext cx="6557010" cy="3255010"/>
          </a:xfrm>
          <a:prstGeom prst="roundRect">
            <a:avLst>
              <a:gd name="adj" fmla="val 3024"/>
            </a:avLst>
          </a:prstGeom>
          <a:solidFill>
            <a:srgbClr val="1E3350"/>
          </a:solidFill>
          <a:ln w="6350">
            <a:solidFill>
              <a:srgbClr val="2E4A6B"/>
            </a:solidFill>
            <a:prstDash val="solid"/>
          </a:ln>
        </p:spPr>
        <p:txBody>
          <a:bodyPr/>
          <a:lstStyle/>
          <a:p>
            <a:endParaRPr lang="en-US"/>
          </a:p>
        </p:txBody>
      </p:sp>
      <p:pic>
        <p:nvPicPr>
          <p:cNvPr id="4" name="Image 0" descr="Planning sheet showing patient days and Forecast 2027 by department, 2024 to 2027 by quarter"/>
          <p:cNvPicPr>
            <a:picLocks noChangeAspect="1"/>
          </p:cNvPicPr>
          <p:nvPr/>
        </p:nvPicPr>
        <p:blipFill>
          <a:blip r:embed="rId3"/>
          <a:srcRect l="-39" r="-39"/>
          <a:stretch/>
        </p:blipFill>
        <p:spPr>
          <a:xfrm>
            <a:off x="919480" y="2033277"/>
            <a:ext cx="6350000" cy="3048000"/>
          </a:xfrm>
          <a:prstGeom prst="roundRect">
            <a:avLst>
              <a:gd name="adj" fmla="val 1667"/>
            </a:avLst>
          </a:prstGeom>
        </p:spPr>
      </p:pic>
      <p:sp>
        <p:nvSpPr>
          <p:cNvPr id="5" name="Text 2"/>
          <p:cNvSpPr/>
          <p:nvPr/>
        </p:nvSpPr>
        <p:spPr>
          <a:xfrm>
            <a:off x="7731760" y="1587500"/>
            <a:ext cx="3756863" cy="558800"/>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6CC2B4"/>
                </a:solidFill>
                <a:latin typeface="Source Serif 4" pitchFamily="18" charset="0"/>
                <a:ea typeface="Source Serif 4" pitchFamily="18" charset="-122"/>
                <a:cs typeface="Source Serif 4" pitchFamily="18" charset="-120"/>
              </a:rPr>
              <a:t>94,180</a:t>
            </a:r>
            <a:endParaRPr lang="en-US" sz="4000" dirty="0"/>
          </a:p>
        </p:txBody>
      </p:sp>
      <p:sp>
        <p:nvSpPr>
          <p:cNvPr id="6" name="Text 3"/>
          <p:cNvSpPr/>
          <p:nvPr/>
        </p:nvSpPr>
        <p:spPr>
          <a:xfrm>
            <a:off x="7731760" y="2273300"/>
            <a:ext cx="375686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CCD6"/>
                </a:solidFill>
                <a:latin typeface="Inter" pitchFamily="34" charset="0"/>
                <a:ea typeface="Inter" pitchFamily="34" charset="-122"/>
                <a:cs typeface="Inter" pitchFamily="34" charset="-120"/>
              </a:rPr>
              <a:t>patient days across 11 inpatient units in 2027</a:t>
            </a:r>
            <a:endParaRPr lang="en-US" sz="1300" dirty="0"/>
          </a:p>
        </p:txBody>
      </p:sp>
      <p:graphicFrame>
        <p:nvGraphicFramePr>
          <p:cNvPr id="9" name="Table 0"/>
          <p:cNvGraphicFramePr>
            <a:graphicFrameLocks noGrp="1"/>
          </p:cNvGraphicFramePr>
          <p:nvPr/>
        </p:nvGraphicFramePr>
        <p:xfrm>
          <a:off x="7843520" y="2768602"/>
          <a:ext cx="3434080" cy="1865757"/>
        </p:xfrm>
        <a:graphic>
          <a:graphicData uri="http://schemas.openxmlformats.org/drawingml/2006/table">
            <a:tbl>
              <a:tblPr firstRow="1"/>
              <a:tblGrid>
                <a:gridCol w="1717040">
                  <a:extLst>
                    <a:ext uri="{9D8B030D-6E8A-4147-A177-3AD203B41FA5}">
                      <a16:colId xmlns:a16="http://schemas.microsoft.com/office/drawing/2014/main" val="20000"/>
                    </a:ext>
                  </a:extLst>
                </a:gridCol>
                <a:gridCol w="1717040">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F3F1EC"/>
                          </a:solidFill>
                          <a:latin typeface="Inter" pitchFamily="34" charset="0"/>
                          <a:ea typeface="Inter" pitchFamily="34" charset="-122"/>
                          <a:cs typeface="Inter" pitchFamily="34" charset="-120"/>
                        </a:rPr>
                        <a:t>Quarter</a:t>
                      </a:r>
                      <a:endParaRPr lang="en-US" sz="12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gn="r">
                        <a:lnSpc>
                          <a:spcPts val="1680"/>
                        </a:lnSpc>
                        <a:buNone/>
                      </a:pPr>
                      <a:r>
                        <a:rPr lang="en-US" sz="1200" b="1" dirty="0">
                          <a:solidFill>
                            <a:srgbClr val="F3F1EC"/>
                          </a:solidFill>
                          <a:latin typeface="Inter" pitchFamily="34" charset="0"/>
                          <a:ea typeface="Inter" pitchFamily="34" charset="-122"/>
                          <a:cs typeface="Inter" pitchFamily="34" charset="-120"/>
                        </a:rPr>
                        <a:t>Patient days</a:t>
                      </a:r>
                      <a:endParaRPr lang="en-US" sz="12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extLst>
                  <a:ext uri="{0D108BD9-81ED-4DB2-BD59-A6C34878D82A}">
                    <a16:rowId xmlns:a16="http://schemas.microsoft.com/office/drawing/2014/main" val="10000"/>
                  </a:ext>
                </a:extLst>
              </a:tr>
              <a:tr h="543560">
                <a:tc>
                  <a:txBody>
                    <a:bodyPr/>
                    <a:lstStyle/>
                    <a:p>
                      <a:pPr marL="0" indent="0">
                        <a:lnSpc>
                          <a:spcPts val="1680"/>
                        </a:lnSpc>
                        <a:buNone/>
                      </a:pPr>
                      <a:r>
                        <a:rPr lang="en-US" sz="1200" b="1" dirty="0">
                          <a:solidFill>
                            <a:srgbClr val="F3F1EC"/>
                          </a:solidFill>
                          <a:latin typeface="Inter" pitchFamily="34" charset="0"/>
                          <a:ea typeface="Inter" pitchFamily="34" charset="-122"/>
                          <a:cs typeface="Inter" pitchFamily="34" charset="-120"/>
                        </a:rPr>
                        <a:t>Q1 · respiratory season</a:t>
                      </a:r>
                      <a:endParaRPr lang="en-US" sz="12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gn="r">
                        <a:lnSpc>
                          <a:spcPts val="1680"/>
                        </a:lnSpc>
                        <a:buNone/>
                      </a:pPr>
                      <a:r>
                        <a:rPr lang="en-US" sz="1200" dirty="0">
                          <a:solidFill>
                            <a:srgbClr val="D6D2C8"/>
                          </a:solidFill>
                          <a:latin typeface="Inter" pitchFamily="34" charset="0"/>
                          <a:ea typeface="Inter" pitchFamily="34" charset="-122"/>
                          <a:cs typeface="Inter" pitchFamily="34" charset="-120"/>
                        </a:rPr>
                        <a:t>24,590</a:t>
                      </a:r>
                      <a:endParaRPr lang="en-US" sz="12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b="1" dirty="0">
                          <a:solidFill>
                            <a:srgbClr val="F3F1EC"/>
                          </a:solidFill>
                          <a:latin typeface="Inter" pitchFamily="34" charset="0"/>
                          <a:ea typeface="Inter" pitchFamily="34" charset="-122"/>
                          <a:cs typeface="Inter" pitchFamily="34" charset="-120"/>
                        </a:rPr>
                        <a:t>Q2</a:t>
                      </a:r>
                      <a:endParaRPr lang="en-US" sz="12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680"/>
                        </a:lnSpc>
                        <a:buNone/>
                      </a:pPr>
                      <a:r>
                        <a:rPr lang="en-US" sz="1200" dirty="0">
                          <a:solidFill>
                            <a:srgbClr val="D6D2C8"/>
                          </a:solidFill>
                          <a:latin typeface="Inter" pitchFamily="34" charset="0"/>
                          <a:ea typeface="Inter" pitchFamily="34" charset="-122"/>
                          <a:cs typeface="Inter" pitchFamily="34" charset="-120"/>
                        </a:rPr>
                        <a:t>22,850</a:t>
                      </a:r>
                      <a:endParaRPr lang="en-US" sz="12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b="1" dirty="0">
                          <a:solidFill>
                            <a:srgbClr val="F3F1EC"/>
                          </a:solidFill>
                          <a:latin typeface="Inter" pitchFamily="34" charset="0"/>
                          <a:ea typeface="Inter" pitchFamily="34" charset="-122"/>
                          <a:cs typeface="Inter" pitchFamily="34" charset="-120"/>
                        </a:rPr>
                        <a:t>Q3</a:t>
                      </a:r>
                      <a:endParaRPr lang="en-US" sz="12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680"/>
                        </a:lnSpc>
                        <a:buNone/>
                      </a:pPr>
                      <a:r>
                        <a:rPr lang="en-US" sz="1200" dirty="0">
                          <a:solidFill>
                            <a:srgbClr val="D6D2C8"/>
                          </a:solidFill>
                          <a:latin typeface="Inter" pitchFamily="34" charset="0"/>
                          <a:ea typeface="Inter" pitchFamily="34" charset="-122"/>
                          <a:cs typeface="Inter" pitchFamily="34" charset="-120"/>
                        </a:rPr>
                        <a:t>22,770</a:t>
                      </a:r>
                      <a:endParaRPr lang="en-US" sz="12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b="1" dirty="0">
                          <a:solidFill>
                            <a:srgbClr val="F3F1EC"/>
                          </a:solidFill>
                          <a:latin typeface="Inter" pitchFamily="34" charset="0"/>
                          <a:ea typeface="Inter" pitchFamily="34" charset="-122"/>
                          <a:cs typeface="Inter" pitchFamily="34" charset="-120"/>
                        </a:rPr>
                        <a:t>Q4</a:t>
                      </a:r>
                      <a:endParaRPr lang="en-US" sz="12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gn="r">
                        <a:lnSpc>
                          <a:spcPts val="1680"/>
                        </a:lnSpc>
                        <a:buNone/>
                      </a:pPr>
                      <a:r>
                        <a:rPr lang="en-US" sz="1200" dirty="0">
                          <a:solidFill>
                            <a:srgbClr val="D6D2C8"/>
                          </a:solidFill>
                          <a:latin typeface="Inter" pitchFamily="34" charset="0"/>
                          <a:ea typeface="Inter" pitchFamily="34" charset="-122"/>
                          <a:cs typeface="Inter" pitchFamily="34" charset="-120"/>
                        </a:rPr>
                        <a:t>23,970</a:t>
                      </a:r>
                      <a:endParaRPr lang="en-US" sz="12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extLst>
                  <a:ext uri="{0D108BD9-81ED-4DB2-BD59-A6C34878D82A}">
                    <a16:rowId xmlns:a16="http://schemas.microsoft.com/office/drawing/2014/main" val="10004"/>
                  </a:ext>
                </a:extLst>
              </a:tr>
            </a:tbl>
          </a:graphicData>
        </a:graphic>
      </p:graphicFrame>
      <p:sp>
        <p:nvSpPr>
          <p:cNvPr id="10" name="Text 6"/>
          <p:cNvSpPr/>
          <p:nvPr/>
        </p:nvSpPr>
        <p:spPr>
          <a:xfrm>
            <a:off x="7731760" y="4851400"/>
            <a:ext cx="3756863" cy="9144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1EC"/>
                </a:solidFill>
                <a:latin typeface="Inter" pitchFamily="34" charset="0"/>
                <a:ea typeface="Inter" pitchFamily="34" charset="-122"/>
                <a:cs typeface="Inter" pitchFamily="34" charset="-120"/>
              </a:rPr>
              <a:t>Orthopedics climbs to 10,330, up from 8,600 in 2025: the model found the new surgeon group on its own.</a:t>
            </a:r>
            <a:endParaRPr lang="en-US" sz="1200" dirty="0"/>
          </a:p>
        </p:txBody>
      </p:sp>
      <p:sp>
        <p:nvSpPr>
          <p:cNvPr id="11" name="Text 7"/>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12"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RESULTS · 2027 FORECAST</a:t>
            </a:r>
          </a:p>
        </p:txBody>
      </p:sp>
    </p:spTree>
    <p:extLst>
      <p:ext uri="{BB962C8B-B14F-4D97-AF65-F5344CB8AC3E}">
        <p14:creationId xmlns:p14="http://schemas.microsoft.com/office/powerpoint/2010/main" val="4197263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How a simulation works</a:t>
            </a:r>
            <a:endParaRPr lang="en-US" sz="3000" dirty="0"/>
          </a:p>
        </p:txBody>
      </p:sp>
      <p:sp>
        <p:nvSpPr>
          <p:cNvPr id="3" name="Shape 1"/>
          <p:cNvSpPr/>
          <p:nvPr/>
        </p:nvSpPr>
        <p:spPr>
          <a:xfrm>
            <a:off x="815975" y="1981833"/>
            <a:ext cx="6557010" cy="2239010"/>
          </a:xfrm>
          <a:prstGeom prst="roundRect">
            <a:avLst>
              <a:gd name="adj" fmla="val 4396"/>
            </a:avLst>
          </a:prstGeom>
          <a:solidFill>
            <a:srgbClr val="1E3350"/>
          </a:solidFill>
          <a:ln w="6350">
            <a:solidFill>
              <a:srgbClr val="2E4A6B"/>
            </a:solidFill>
            <a:prstDash val="solid"/>
          </a:ln>
        </p:spPr>
        <p:txBody>
          <a:bodyPr/>
          <a:lstStyle/>
          <a:p>
            <a:endParaRPr lang="en-US"/>
          </a:p>
        </p:txBody>
      </p:sp>
      <p:pic>
        <p:nvPicPr>
          <p:cNvPr id="4" name="Image 0" descr="Simulation percent dialog over selected Forecast 2027 cells"/>
          <p:cNvPicPr>
            <a:picLocks noChangeAspect="1"/>
          </p:cNvPicPr>
          <p:nvPr/>
        </p:nvPicPr>
        <p:blipFill>
          <a:blip r:embed="rId3"/>
          <a:srcRect/>
          <a:stretch/>
        </p:blipFill>
        <p:spPr>
          <a:xfrm>
            <a:off x="919480" y="2085342"/>
            <a:ext cx="6350000" cy="2032000"/>
          </a:xfrm>
          <a:prstGeom prst="roundRect">
            <a:avLst>
              <a:gd name="adj" fmla="val 2500"/>
            </a:avLst>
          </a:prstGeom>
        </p:spPr>
      </p:pic>
      <p:sp>
        <p:nvSpPr>
          <p:cNvPr id="5" name="Text 2"/>
          <p:cNvSpPr/>
          <p:nvPr/>
        </p:nvSpPr>
        <p:spPr>
          <a:xfrm>
            <a:off x="7731760" y="158750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1D7A6E"/>
          </a:solidFill>
          <a:ln/>
        </p:spPr>
        <p:txBody>
          <a:bodyPr wrap="square" lIns="0" tIns="0" rIns="0" bIns="0" rtlCol="0" anchor="t">
            <a:normAutofit/>
          </a:bodyPr>
          <a:lstStyle/>
          <a:p>
            <a:pPr marL="0" indent="0" algn="ctr">
              <a:lnSpc>
                <a:spcPts val="2405"/>
              </a:lnSpc>
              <a:buNone/>
            </a:pPr>
            <a:r>
              <a:rPr lang="en-US" sz="1300" b="1" dirty="0">
                <a:solidFill>
                  <a:srgbClr val="F3F1EC"/>
                </a:solidFill>
                <a:latin typeface="Inter" pitchFamily="34" charset="0"/>
                <a:ea typeface="Inter" pitchFamily="34" charset="-122"/>
                <a:cs typeface="Inter" pitchFamily="34" charset="-120"/>
              </a:rPr>
              <a:t>1</a:t>
            </a:r>
            <a:endParaRPr lang="en-US" sz="1300" dirty="0"/>
          </a:p>
        </p:txBody>
      </p:sp>
      <p:sp>
        <p:nvSpPr>
          <p:cNvPr id="6" name="Text 3"/>
          <p:cNvSpPr/>
          <p:nvPr/>
        </p:nvSpPr>
        <p:spPr>
          <a:xfrm>
            <a:off x="8163560" y="1587500"/>
            <a:ext cx="3312109"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Create a scenario tab</a:t>
            </a:r>
            <a:endParaRPr lang="en-US" sz="1400" dirty="0"/>
          </a:p>
        </p:txBody>
      </p:sp>
      <p:sp>
        <p:nvSpPr>
          <p:cNvPr id="7" name="Text 4"/>
          <p:cNvSpPr/>
          <p:nvPr/>
        </p:nvSpPr>
        <p:spPr>
          <a:xfrm>
            <a:off x="8163560" y="1856742"/>
            <a:ext cx="331210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Model › Scenario: name it, choose Forecast 2027, Create</a:t>
            </a:r>
            <a:endParaRPr lang="en-US" sz="1200" dirty="0"/>
          </a:p>
        </p:txBody>
      </p:sp>
      <p:sp>
        <p:nvSpPr>
          <p:cNvPr id="8" name="Text 5"/>
          <p:cNvSpPr/>
          <p:nvPr/>
        </p:nvSpPr>
        <p:spPr>
          <a:xfrm>
            <a:off x="7731760" y="2435858"/>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1D7A6E"/>
          </a:solidFill>
          <a:ln/>
        </p:spPr>
        <p:txBody>
          <a:bodyPr wrap="square" lIns="0" tIns="0" rIns="0" bIns="0" rtlCol="0" anchor="t">
            <a:normAutofit/>
          </a:bodyPr>
          <a:lstStyle/>
          <a:p>
            <a:pPr marL="0" indent="0" algn="ctr">
              <a:lnSpc>
                <a:spcPts val="2405"/>
              </a:lnSpc>
              <a:buNone/>
            </a:pPr>
            <a:r>
              <a:rPr lang="en-US" sz="1300" b="1" dirty="0">
                <a:solidFill>
                  <a:srgbClr val="F3F1EC"/>
                </a:solidFill>
                <a:latin typeface="Inter" pitchFamily="34" charset="0"/>
                <a:ea typeface="Inter" pitchFamily="34" charset="-122"/>
                <a:cs typeface="Inter" pitchFamily="34" charset="-120"/>
              </a:rPr>
              <a:t>2</a:t>
            </a:r>
            <a:endParaRPr lang="en-US" sz="1300" dirty="0"/>
          </a:p>
        </p:txBody>
      </p:sp>
      <p:sp>
        <p:nvSpPr>
          <p:cNvPr id="9" name="Text 6"/>
          <p:cNvSpPr/>
          <p:nvPr/>
        </p:nvSpPr>
        <p:spPr>
          <a:xfrm>
            <a:off x="8163560" y="2435858"/>
            <a:ext cx="3312109"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Select the cells</a:t>
            </a:r>
            <a:endParaRPr lang="en-US" sz="1400" dirty="0"/>
          </a:p>
        </p:txBody>
      </p:sp>
      <p:sp>
        <p:nvSpPr>
          <p:cNvPr id="10" name="Text 7"/>
          <p:cNvSpPr/>
          <p:nvPr/>
        </p:nvSpPr>
        <p:spPr>
          <a:xfrm>
            <a:off x="8163560" y="2705100"/>
            <a:ext cx="385876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Shift + click a block; Ctrl + click to add more</a:t>
            </a:r>
            <a:endParaRPr lang="en-US" sz="1200" dirty="0"/>
          </a:p>
        </p:txBody>
      </p:sp>
      <p:sp>
        <p:nvSpPr>
          <p:cNvPr id="11" name="Text 8"/>
          <p:cNvSpPr/>
          <p:nvPr/>
        </p:nvSpPr>
        <p:spPr>
          <a:xfrm>
            <a:off x="7731760" y="3070858"/>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1D7A6E"/>
          </a:solidFill>
          <a:ln/>
        </p:spPr>
        <p:txBody>
          <a:bodyPr wrap="square" lIns="0" tIns="0" rIns="0" bIns="0" rtlCol="0" anchor="t">
            <a:normAutofit/>
          </a:bodyPr>
          <a:lstStyle/>
          <a:p>
            <a:pPr marL="0" indent="0" algn="ctr">
              <a:lnSpc>
                <a:spcPts val="2405"/>
              </a:lnSpc>
              <a:buNone/>
            </a:pPr>
            <a:r>
              <a:rPr lang="en-US" sz="1300" b="1" dirty="0">
                <a:solidFill>
                  <a:srgbClr val="F3F1EC"/>
                </a:solidFill>
                <a:latin typeface="Inter" pitchFamily="34" charset="0"/>
                <a:ea typeface="Inter" pitchFamily="34" charset="-122"/>
                <a:cs typeface="Inter" pitchFamily="34" charset="-120"/>
              </a:rPr>
              <a:t>3</a:t>
            </a:r>
            <a:endParaRPr lang="en-US" sz="1300" dirty="0"/>
          </a:p>
        </p:txBody>
      </p:sp>
      <p:sp>
        <p:nvSpPr>
          <p:cNvPr id="12" name="Text 9"/>
          <p:cNvSpPr/>
          <p:nvPr/>
        </p:nvSpPr>
        <p:spPr>
          <a:xfrm>
            <a:off x="8163560" y="3070858"/>
            <a:ext cx="3312109"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Enter the increase once</a:t>
            </a:r>
            <a:endParaRPr lang="en-US" sz="1400" dirty="0"/>
          </a:p>
        </p:txBody>
      </p:sp>
      <p:sp>
        <p:nvSpPr>
          <p:cNvPr id="13" name="Text 10"/>
          <p:cNvSpPr/>
          <p:nvPr/>
        </p:nvSpPr>
        <p:spPr>
          <a:xfrm>
            <a:off x="8163560" y="3340100"/>
            <a:ext cx="331210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20 means +20%. Applying twice compounds</a:t>
            </a:r>
            <a:endParaRPr lang="en-US" sz="1200" dirty="0"/>
          </a:p>
        </p:txBody>
      </p:sp>
      <p:sp>
        <p:nvSpPr>
          <p:cNvPr id="14" name="Text 11"/>
          <p:cNvSpPr/>
          <p:nvPr/>
        </p:nvSpPr>
        <p:spPr>
          <a:xfrm>
            <a:off x="7731760" y="3919227"/>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1D7A6E"/>
          </a:solidFill>
          <a:ln/>
        </p:spPr>
        <p:txBody>
          <a:bodyPr wrap="square" lIns="0" tIns="0" rIns="0" bIns="0" rtlCol="0" anchor="t">
            <a:normAutofit/>
          </a:bodyPr>
          <a:lstStyle/>
          <a:p>
            <a:pPr marL="0" indent="0" algn="ctr">
              <a:lnSpc>
                <a:spcPts val="2405"/>
              </a:lnSpc>
              <a:buNone/>
            </a:pPr>
            <a:r>
              <a:rPr lang="en-US" sz="1300" b="1" dirty="0">
                <a:solidFill>
                  <a:srgbClr val="F3F1EC"/>
                </a:solidFill>
                <a:latin typeface="Inter" pitchFamily="34" charset="0"/>
                <a:ea typeface="Inter" pitchFamily="34" charset="-122"/>
                <a:cs typeface="Inter" pitchFamily="34" charset="-120"/>
              </a:rPr>
              <a:t>4</a:t>
            </a:r>
            <a:endParaRPr lang="en-US" sz="1300" dirty="0"/>
          </a:p>
        </p:txBody>
      </p:sp>
      <p:sp>
        <p:nvSpPr>
          <p:cNvPr id="15" name="Text 12"/>
          <p:cNvSpPr/>
          <p:nvPr/>
        </p:nvSpPr>
        <p:spPr>
          <a:xfrm>
            <a:off x="8163560" y="3919227"/>
            <a:ext cx="3312109"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Everything recalculates</a:t>
            </a:r>
            <a:endParaRPr lang="en-US" sz="1400" dirty="0"/>
          </a:p>
        </p:txBody>
      </p:sp>
      <p:sp>
        <p:nvSpPr>
          <p:cNvPr id="16" name="Text 13"/>
          <p:cNvSpPr/>
          <p:nvPr/>
        </p:nvSpPr>
        <p:spPr>
          <a:xfrm>
            <a:off x="8163560" y="4188458"/>
            <a:ext cx="331210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Hours, FTEs and cost follow; changed cells carry a % tag</a:t>
            </a:r>
            <a:endParaRPr lang="en-US" sz="1200" dirty="0"/>
          </a:p>
        </p:txBody>
      </p:sp>
      <p:sp>
        <p:nvSpPr>
          <p:cNvPr id="17" name="Text 14"/>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18"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SCENARIOS · HOW IT WORKS</a:t>
            </a:r>
          </a:p>
        </p:txBody>
      </p:sp>
    </p:spTree>
    <p:extLst>
      <p:ext uri="{BB962C8B-B14F-4D97-AF65-F5344CB8AC3E}">
        <p14:creationId xmlns:p14="http://schemas.microsoft.com/office/powerpoint/2010/main" val="1472136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269"/>
              </a:lnSpc>
              <a:buNone/>
            </a:pPr>
            <a:r>
              <a:rPr lang="en-US" sz="3200" b="1" i="0" dirty="0">
                <a:solidFill>
                  <a:srgbClr val="F3F1EC"/>
                </a:solidFill>
                <a:latin typeface="Source Serif 4" pitchFamily="18" charset="0"/>
                <a:ea typeface="Source Serif 4" pitchFamily="18" charset="-122"/>
                <a:cs typeface="Source Serif 4" pitchFamily="18" charset="-120"/>
              </a:rPr>
              <a:t>+10%: one change flows through every measure</a:t>
            </a:r>
            <a:endParaRPr lang="en-US" sz="2972" dirty="0"/>
          </a:p>
        </p:txBody>
      </p:sp>
      <p:sp>
        <p:nvSpPr>
          <p:cNvPr id="3" name="Shape 1"/>
          <p:cNvSpPr/>
          <p:nvPr/>
        </p:nvSpPr>
        <p:spPr>
          <a:xfrm>
            <a:off x="2436495" y="1582899"/>
            <a:ext cx="7319010" cy="2795905"/>
          </a:xfrm>
          <a:prstGeom prst="roundRect">
            <a:avLst>
              <a:gd name="adj" fmla="val 3520"/>
            </a:avLst>
          </a:prstGeom>
          <a:solidFill>
            <a:srgbClr val="1E3350"/>
          </a:solidFill>
          <a:ln w="6350">
            <a:solidFill>
              <a:srgbClr val="2E4A6B"/>
            </a:solidFill>
            <a:prstDash val="solid"/>
          </a:ln>
        </p:spPr>
        <p:txBody>
          <a:bodyPr/>
          <a:lstStyle/>
          <a:p>
            <a:endParaRPr lang="en-US"/>
          </a:p>
        </p:txBody>
      </p:sp>
      <p:pic>
        <p:nvPicPr>
          <p:cNvPr id="4" name="Image 0" descr="Forecast plus 10 scenario tab with 10 percent tags on 2027 values"/>
          <p:cNvPicPr>
            <a:picLocks noChangeAspect="1"/>
          </p:cNvPicPr>
          <p:nvPr/>
        </p:nvPicPr>
        <p:blipFill>
          <a:blip r:embed="rId3"/>
          <a:srcRect l="-38" r="-38"/>
          <a:stretch/>
        </p:blipFill>
        <p:spPr>
          <a:xfrm>
            <a:off x="2540000" y="1686409"/>
            <a:ext cx="7112000" cy="2641600"/>
          </a:xfrm>
          <a:prstGeom prst="roundRect">
            <a:avLst>
              <a:gd name="adj" fmla="val 1923"/>
            </a:avLst>
          </a:prstGeom>
        </p:spPr>
      </p:pic>
      <p:sp>
        <p:nvSpPr>
          <p:cNvPr id="5" name="Shape 2"/>
          <p:cNvSpPr/>
          <p:nvPr/>
        </p:nvSpPr>
        <p:spPr>
          <a:xfrm>
            <a:off x="815975" y="4740759"/>
            <a:ext cx="3397250" cy="1098074"/>
          </a:xfrm>
          <a:prstGeom prst="roundRect">
            <a:avLst>
              <a:gd name="adj" fmla="val 8963"/>
            </a:avLst>
          </a:prstGeom>
          <a:solidFill>
            <a:srgbClr val="1E3350"/>
          </a:solidFill>
          <a:ln w="6350">
            <a:solidFill>
              <a:srgbClr val="2E4A6B"/>
            </a:solidFill>
            <a:prstDash val="solid"/>
          </a:ln>
        </p:spPr>
        <p:txBody>
          <a:bodyPr/>
          <a:lstStyle/>
          <a:p>
            <a:endParaRPr lang="en-US"/>
          </a:p>
        </p:txBody>
      </p:sp>
      <p:sp>
        <p:nvSpPr>
          <p:cNvPr id="6" name="Text 3"/>
          <p:cNvSpPr/>
          <p:nvPr/>
        </p:nvSpPr>
        <p:spPr>
          <a:xfrm>
            <a:off x="1021080" y="4920456"/>
            <a:ext cx="3076651"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ICU: 7,300 → 8,030 patient days</a:t>
            </a:r>
            <a:endParaRPr lang="en-US" sz="1400" dirty="0"/>
          </a:p>
        </p:txBody>
      </p:sp>
      <p:sp>
        <p:nvSpPr>
          <p:cNvPr id="7" name="Text 4"/>
          <p:cNvSpPr/>
          <p:nvPr/>
        </p:nvSpPr>
        <p:spPr>
          <a:xfrm>
            <a:off x="1021080" y="5253199"/>
            <a:ext cx="30766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Forecast 2027, +10%</a:t>
            </a:r>
            <a:endParaRPr lang="en-US" sz="1200" dirty="0"/>
          </a:p>
        </p:txBody>
      </p:sp>
      <p:sp>
        <p:nvSpPr>
          <p:cNvPr id="8" name="Shape 5"/>
          <p:cNvSpPr/>
          <p:nvPr/>
        </p:nvSpPr>
        <p:spPr>
          <a:xfrm>
            <a:off x="4397375" y="4740759"/>
            <a:ext cx="3397250" cy="1098074"/>
          </a:xfrm>
          <a:prstGeom prst="roundRect">
            <a:avLst>
              <a:gd name="adj" fmla="val 8963"/>
            </a:avLst>
          </a:prstGeom>
          <a:solidFill>
            <a:srgbClr val="1E3350"/>
          </a:solidFill>
          <a:ln w="6350">
            <a:solidFill>
              <a:srgbClr val="2E4A6B"/>
            </a:solidFill>
            <a:prstDash val="solid"/>
          </a:ln>
        </p:spPr>
        <p:txBody>
          <a:bodyPr/>
          <a:lstStyle/>
          <a:p>
            <a:endParaRPr lang="en-US"/>
          </a:p>
        </p:txBody>
      </p:sp>
      <p:sp>
        <p:nvSpPr>
          <p:cNvPr id="9" name="Text 6"/>
          <p:cNvSpPr/>
          <p:nvPr/>
        </p:nvSpPr>
        <p:spPr>
          <a:xfrm>
            <a:off x="4602480" y="4920456"/>
            <a:ext cx="3076651"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C"/>
                </a:solidFill>
                <a:latin typeface="Inter" pitchFamily="34" charset="0"/>
                <a:ea typeface="Inter" pitchFamily="34" charset="-122"/>
                <a:cs typeface="Inter" pitchFamily="34" charset="-120"/>
              </a:rPr>
              <a:t>124,100 → 136,510 hours</a:t>
            </a:r>
            <a:endParaRPr lang="en-US" sz="1400" dirty="0"/>
          </a:p>
        </p:txBody>
      </p:sp>
      <p:sp>
        <p:nvSpPr>
          <p:cNvPr id="10" name="Text 7"/>
          <p:cNvSpPr/>
          <p:nvPr/>
        </p:nvSpPr>
        <p:spPr>
          <a:xfrm>
            <a:off x="4602480" y="5253199"/>
            <a:ext cx="30766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Nursing hours follow automatically</a:t>
            </a:r>
            <a:endParaRPr lang="en-US" sz="1200" dirty="0"/>
          </a:p>
        </p:txBody>
      </p:sp>
      <p:sp>
        <p:nvSpPr>
          <p:cNvPr id="11" name="Shape 8"/>
          <p:cNvSpPr/>
          <p:nvPr/>
        </p:nvSpPr>
        <p:spPr>
          <a:xfrm>
            <a:off x="7978775" y="4740759"/>
            <a:ext cx="3397250" cy="1098074"/>
          </a:xfrm>
          <a:prstGeom prst="roundRect">
            <a:avLst>
              <a:gd name="adj" fmla="val 8963"/>
            </a:avLst>
          </a:prstGeom>
          <a:solidFill>
            <a:srgbClr val="1E3350"/>
          </a:solidFill>
          <a:ln w="6350">
            <a:solidFill>
              <a:srgbClr val="2E4A6B"/>
            </a:solidFill>
            <a:prstDash val="solid"/>
          </a:ln>
        </p:spPr>
        <p:txBody>
          <a:bodyPr/>
          <a:lstStyle/>
          <a:p>
            <a:endParaRPr lang="en-US"/>
          </a:p>
        </p:txBody>
      </p:sp>
      <p:sp>
        <p:nvSpPr>
          <p:cNvPr id="12" name="Text 9"/>
          <p:cNvSpPr/>
          <p:nvPr/>
        </p:nvSpPr>
        <p:spPr>
          <a:xfrm>
            <a:off x="8183880" y="4920456"/>
            <a:ext cx="3076651" cy="249237"/>
          </a:xfrm>
          <a:prstGeom prst="rect">
            <a:avLst/>
          </a:prstGeom>
          <a:noFill/>
          <a:ln/>
        </p:spPr>
        <p:txBody>
          <a:bodyPr wrap="square" lIns="0" tIns="0" rIns="0" bIns="0" rtlCol="0" anchor="t">
            <a:normAutofit/>
          </a:bodyPr>
          <a:lstStyle/>
          <a:p>
            <a:pPr marL="0" indent="0" algn="l">
              <a:lnSpc>
                <a:spcPts val="1775"/>
              </a:lnSpc>
              <a:buNone/>
            </a:pPr>
            <a:r>
              <a:rPr lang="en-US" sz="1365" b="1" dirty="0">
                <a:solidFill>
                  <a:srgbClr val="6CC2B4"/>
                </a:solidFill>
                <a:latin typeface="Inter" pitchFamily="34" charset="0"/>
                <a:ea typeface="Inter" pitchFamily="34" charset="-122"/>
                <a:cs typeface="Inter" pitchFamily="34" charset="-120"/>
              </a:rPr>
              <a:t>≈67 → 74.2 FTEs, $8.31M</a:t>
            </a:r>
            <a:endParaRPr lang="en-US" sz="1365" dirty="0"/>
          </a:p>
        </p:txBody>
      </p:sp>
      <p:sp>
        <p:nvSpPr>
          <p:cNvPr id="13" name="Text 10"/>
          <p:cNvSpPr/>
          <p:nvPr/>
        </p:nvSpPr>
        <p:spPr>
          <a:xfrm>
            <a:off x="8183880" y="5245894"/>
            <a:ext cx="3076651" cy="438626"/>
          </a:xfrm>
          <a:prstGeom prst="rect">
            <a:avLst/>
          </a:prstGeom>
          <a:noFill/>
          <a:ln/>
        </p:spPr>
        <p:txBody>
          <a:bodyPr wrap="square" lIns="0" tIns="0" rIns="0" bIns="0" rtlCol="0" anchor="t">
            <a:normAutofit/>
          </a:bodyPr>
          <a:lstStyle/>
          <a:p>
            <a:pPr marL="0" indent="0" algn="l">
              <a:lnSpc>
                <a:spcPts val="1633"/>
              </a:lnSpc>
              <a:buNone/>
            </a:pPr>
            <a:r>
              <a:rPr lang="en-US" sz="1166" dirty="0">
                <a:solidFill>
                  <a:srgbClr val="C5CCD6"/>
                </a:solidFill>
                <a:latin typeface="Inter" pitchFamily="34" charset="0"/>
                <a:ea typeface="Inter" pitchFamily="34" charset="-122"/>
                <a:cs typeface="Inter" pitchFamily="34" charset="-120"/>
              </a:rPr>
              <a:t>ICU needs twice Med-Surg's hours per patient day</a:t>
            </a:r>
            <a:endParaRPr lang="en-US" sz="1166" dirty="0"/>
          </a:p>
        </p:txBody>
      </p:sp>
      <p:sp>
        <p:nvSpPr>
          <p:cNvPr id="14" name="Text 11"/>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15"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SCENARIOS · +10% VOLUME</a:t>
            </a:r>
          </a:p>
        </p:txBody>
      </p:sp>
    </p:spTree>
    <p:extLst>
      <p:ext uri="{BB962C8B-B14F-4D97-AF65-F5344CB8AC3E}">
        <p14:creationId xmlns:p14="http://schemas.microsoft.com/office/powerpoint/2010/main" val="41943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114"/>
              </a:lnSpc>
              <a:buNone/>
            </a:pPr>
            <a:r>
              <a:rPr lang="en-US" sz="3200" b="1" i="0" dirty="0">
                <a:solidFill>
                  <a:srgbClr val="F3F1EC"/>
                </a:solidFill>
                <a:latin typeface="Source Serif 4" pitchFamily="18" charset="0"/>
                <a:ea typeface="Source Serif 4" pitchFamily="18" charset="-122"/>
                <a:cs typeface="Source Serif 4" pitchFamily="18" charset="-120"/>
              </a:rPr>
              <a:t>Respiratory surge: +20% on seven units, three winter months</a:t>
            </a:r>
            <a:endParaRPr lang="en-US" sz="2831" dirty="0"/>
          </a:p>
        </p:txBody>
      </p:sp>
      <p:sp>
        <p:nvSpPr>
          <p:cNvPr id="3" name="Shape 1"/>
          <p:cNvSpPr/>
          <p:nvPr/>
        </p:nvSpPr>
        <p:spPr>
          <a:xfrm>
            <a:off x="2182495" y="1954299"/>
            <a:ext cx="7827010" cy="2677398"/>
          </a:xfrm>
          <a:prstGeom prst="roundRect">
            <a:avLst>
              <a:gd name="adj" fmla="val 3676"/>
            </a:avLst>
          </a:prstGeom>
          <a:solidFill>
            <a:srgbClr val="1E3350"/>
          </a:solidFill>
          <a:ln w="6350">
            <a:solidFill>
              <a:srgbClr val="2E4A6B"/>
            </a:solidFill>
            <a:prstDash val="solid"/>
          </a:ln>
        </p:spPr>
        <p:txBody>
          <a:bodyPr/>
          <a:lstStyle/>
          <a:p>
            <a:endParaRPr lang="en-US"/>
          </a:p>
        </p:txBody>
      </p:sp>
      <p:pic>
        <p:nvPicPr>
          <p:cNvPr id="4" name="Image 0" descr="Respiratory Surge scenario with 20 percent tags on January and February 2027 for seven units"/>
          <p:cNvPicPr>
            <a:picLocks noChangeAspect="1"/>
          </p:cNvPicPr>
          <p:nvPr/>
        </p:nvPicPr>
        <p:blipFill>
          <a:blip r:embed="rId3"/>
          <a:srcRect l="-33" r="-33"/>
          <a:stretch/>
        </p:blipFill>
        <p:spPr>
          <a:xfrm>
            <a:off x="2286000" y="2057797"/>
            <a:ext cx="7620000" cy="2660650"/>
          </a:xfrm>
          <a:prstGeom prst="roundRect">
            <a:avLst>
              <a:gd name="adj" fmla="val 1909"/>
            </a:avLst>
          </a:prstGeom>
        </p:spPr>
      </p:pic>
      <p:sp>
        <p:nvSpPr>
          <p:cNvPr id="5" name="Shape 2"/>
          <p:cNvSpPr/>
          <p:nvPr/>
        </p:nvSpPr>
        <p:spPr>
          <a:xfrm>
            <a:off x="815975" y="4993642"/>
            <a:ext cx="3397250" cy="845185"/>
          </a:xfrm>
          <a:prstGeom prst="roundRect">
            <a:avLst>
              <a:gd name="adj" fmla="val 11645"/>
            </a:avLst>
          </a:prstGeom>
          <a:solidFill>
            <a:srgbClr val="1E3350"/>
          </a:solidFill>
          <a:ln w="6350">
            <a:solidFill>
              <a:srgbClr val="2E4A6B"/>
            </a:solidFill>
            <a:prstDash val="solid"/>
          </a:ln>
        </p:spPr>
        <p:txBody>
          <a:bodyPr/>
          <a:lstStyle/>
          <a:p>
            <a:endParaRPr lang="en-US"/>
          </a:p>
        </p:txBody>
      </p:sp>
      <p:sp>
        <p:nvSpPr>
          <p:cNvPr id="6" name="Text 3"/>
          <p:cNvSpPr/>
          <p:nvPr/>
        </p:nvSpPr>
        <p:spPr>
          <a:xfrm>
            <a:off x="1021080" y="5173352"/>
            <a:ext cx="3076651" cy="225187"/>
          </a:xfrm>
          <a:prstGeom prst="rect">
            <a:avLst/>
          </a:prstGeom>
          <a:noFill/>
          <a:ln/>
        </p:spPr>
        <p:txBody>
          <a:bodyPr wrap="square" lIns="0" tIns="0" rIns="0" bIns="0" rtlCol="0" anchor="t">
            <a:normAutofit/>
          </a:bodyPr>
          <a:lstStyle/>
          <a:p>
            <a:pPr marL="0" indent="0" algn="l">
              <a:lnSpc>
                <a:spcPts val="1570"/>
              </a:lnSpc>
              <a:buNone/>
            </a:pPr>
            <a:r>
              <a:rPr lang="en-US" sz="1208" b="1" dirty="0">
                <a:solidFill>
                  <a:srgbClr val="F3F1EC"/>
                </a:solidFill>
                <a:latin typeface="Inter" pitchFamily="34" charset="0"/>
                <a:ea typeface="Inter" pitchFamily="34" charset="-122"/>
                <a:cs typeface="Inter" pitchFamily="34" charset="-120"/>
              </a:rPr>
              <a:t>+3,420 patient days</a:t>
            </a:r>
            <a:endParaRPr lang="en-US" sz="1208" dirty="0"/>
          </a:p>
        </p:txBody>
      </p:sp>
      <p:sp>
        <p:nvSpPr>
          <p:cNvPr id="7" name="Text 4"/>
          <p:cNvSpPr/>
          <p:nvPr/>
        </p:nvSpPr>
        <p:spPr>
          <a:xfrm>
            <a:off x="1021080" y="5474729"/>
            <a:ext cx="3076651" cy="209788"/>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C5CCD6"/>
                </a:solidFill>
                <a:latin typeface="Inter" pitchFamily="34" charset="0"/>
                <a:ea typeface="Inter" pitchFamily="34" charset="-122"/>
                <a:cs typeface="Inter" pitchFamily="34" charset="-120"/>
              </a:rPr>
              <a:t>Only 3.6% added to the year</a:t>
            </a:r>
            <a:endParaRPr lang="en-US" sz="1050" dirty="0"/>
          </a:p>
        </p:txBody>
      </p:sp>
      <p:sp>
        <p:nvSpPr>
          <p:cNvPr id="8" name="Shape 5"/>
          <p:cNvSpPr/>
          <p:nvPr/>
        </p:nvSpPr>
        <p:spPr>
          <a:xfrm>
            <a:off x="4397375" y="4993642"/>
            <a:ext cx="3397250" cy="845185"/>
          </a:xfrm>
          <a:prstGeom prst="roundRect">
            <a:avLst>
              <a:gd name="adj" fmla="val 11645"/>
            </a:avLst>
          </a:prstGeom>
          <a:solidFill>
            <a:srgbClr val="1E3350"/>
          </a:solidFill>
          <a:ln w="6350">
            <a:solidFill>
              <a:srgbClr val="2E4A6B"/>
            </a:solidFill>
            <a:prstDash val="solid"/>
          </a:ln>
        </p:spPr>
        <p:txBody>
          <a:bodyPr/>
          <a:lstStyle/>
          <a:p>
            <a:endParaRPr lang="en-US"/>
          </a:p>
        </p:txBody>
      </p:sp>
      <p:sp>
        <p:nvSpPr>
          <p:cNvPr id="9" name="Text 6"/>
          <p:cNvSpPr/>
          <p:nvPr/>
        </p:nvSpPr>
        <p:spPr>
          <a:xfrm>
            <a:off x="4602480" y="5173352"/>
            <a:ext cx="3076651" cy="225187"/>
          </a:xfrm>
          <a:prstGeom prst="rect">
            <a:avLst/>
          </a:prstGeom>
          <a:noFill/>
          <a:ln/>
        </p:spPr>
        <p:txBody>
          <a:bodyPr wrap="square" lIns="0" tIns="0" rIns="0" bIns="0" rtlCol="0" anchor="t">
            <a:normAutofit/>
          </a:bodyPr>
          <a:lstStyle/>
          <a:p>
            <a:pPr marL="0" indent="0" algn="l">
              <a:lnSpc>
                <a:spcPts val="1570"/>
              </a:lnSpc>
              <a:buNone/>
            </a:pPr>
            <a:r>
              <a:rPr lang="en-US" sz="1208" b="1" dirty="0">
                <a:solidFill>
                  <a:srgbClr val="E0884A"/>
                </a:solidFill>
                <a:latin typeface="Inter" pitchFamily="34" charset="0"/>
                <a:ea typeface="Inter" pitchFamily="34" charset="-122"/>
                <a:cs typeface="Inter" pitchFamily="34" charset="-120"/>
              </a:rPr>
              <a:t>≈76 extra FTEs a month</a:t>
            </a:r>
            <a:endParaRPr lang="en-US" sz="1208" dirty="0"/>
          </a:p>
        </p:txBody>
      </p:sp>
      <p:sp>
        <p:nvSpPr>
          <p:cNvPr id="10" name="Text 7"/>
          <p:cNvSpPr/>
          <p:nvPr/>
        </p:nvSpPr>
        <p:spPr>
          <a:xfrm>
            <a:off x="4602480" y="5474729"/>
            <a:ext cx="3076651" cy="209788"/>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C5CCD6"/>
                </a:solidFill>
                <a:latin typeface="Inter" pitchFamily="34" charset="0"/>
                <a:ea typeface="Inter" pitchFamily="34" charset="-122"/>
                <a:cs typeface="Inter" pitchFamily="34" charset="-120"/>
              </a:rPr>
              <a:t>Jan +80 · Feb +72 · Dec +76</a:t>
            </a:r>
            <a:endParaRPr lang="en-US" sz="1050" dirty="0"/>
          </a:p>
        </p:txBody>
      </p:sp>
      <p:sp>
        <p:nvSpPr>
          <p:cNvPr id="11" name="Shape 8"/>
          <p:cNvSpPr/>
          <p:nvPr/>
        </p:nvSpPr>
        <p:spPr>
          <a:xfrm>
            <a:off x="7978775" y="4993642"/>
            <a:ext cx="3397250" cy="845185"/>
          </a:xfrm>
          <a:prstGeom prst="roundRect">
            <a:avLst>
              <a:gd name="adj" fmla="val 11645"/>
            </a:avLst>
          </a:prstGeom>
          <a:solidFill>
            <a:srgbClr val="1E3350"/>
          </a:solidFill>
          <a:ln w="6350">
            <a:solidFill>
              <a:srgbClr val="2E4A6B"/>
            </a:solidFill>
            <a:prstDash val="solid"/>
          </a:ln>
        </p:spPr>
        <p:txBody>
          <a:bodyPr/>
          <a:lstStyle/>
          <a:p>
            <a:endParaRPr lang="en-US"/>
          </a:p>
        </p:txBody>
      </p:sp>
      <p:sp>
        <p:nvSpPr>
          <p:cNvPr id="12" name="Text 9"/>
          <p:cNvSpPr/>
          <p:nvPr/>
        </p:nvSpPr>
        <p:spPr>
          <a:xfrm>
            <a:off x="8183880" y="5173352"/>
            <a:ext cx="3076651" cy="225187"/>
          </a:xfrm>
          <a:prstGeom prst="rect">
            <a:avLst/>
          </a:prstGeom>
          <a:noFill/>
          <a:ln/>
        </p:spPr>
        <p:txBody>
          <a:bodyPr wrap="square" lIns="0" tIns="0" rIns="0" bIns="0" rtlCol="0" anchor="t">
            <a:normAutofit/>
          </a:bodyPr>
          <a:lstStyle/>
          <a:p>
            <a:pPr marL="0" indent="0" algn="l">
              <a:lnSpc>
                <a:spcPts val="1570"/>
              </a:lnSpc>
              <a:buNone/>
            </a:pPr>
            <a:r>
              <a:rPr lang="en-US" sz="1208" b="1" dirty="0">
                <a:solidFill>
                  <a:srgbClr val="E0884A"/>
                </a:solidFill>
                <a:latin typeface="Inter" pitchFamily="34" charset="0"/>
                <a:ea typeface="Inter" pitchFamily="34" charset="-122"/>
                <a:cs typeface="Inter" pitchFamily="34" charset="-120"/>
              </a:rPr>
              <a:t>≈+$2.1M labor</a:t>
            </a:r>
            <a:endParaRPr lang="en-US" sz="1208" dirty="0"/>
          </a:p>
        </p:txBody>
      </p:sp>
      <p:sp>
        <p:nvSpPr>
          <p:cNvPr id="13" name="Text 10"/>
          <p:cNvSpPr/>
          <p:nvPr/>
        </p:nvSpPr>
        <p:spPr>
          <a:xfrm>
            <a:off x="8183880" y="5474729"/>
            <a:ext cx="3076651" cy="209788"/>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C5CCD6"/>
                </a:solidFill>
                <a:latin typeface="Inter" pitchFamily="34" charset="0"/>
                <a:ea typeface="Inter" pitchFamily="34" charset="-122"/>
                <a:cs typeface="Inter" pitchFamily="34" charset="-120"/>
              </a:rPr>
              <a:t>Concentrated in Dec–Feb</a:t>
            </a:r>
            <a:endParaRPr lang="en-US" sz="1050" dirty="0"/>
          </a:p>
        </p:txBody>
      </p:sp>
      <p:sp>
        <p:nvSpPr>
          <p:cNvPr id="14" name="Text 11"/>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15"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SCENARIOS · RESPIRATORY SURGE</a:t>
            </a:r>
          </a:p>
        </p:txBody>
      </p:sp>
    </p:spTree>
    <p:extLst>
      <p:ext uri="{BB962C8B-B14F-4D97-AF65-F5344CB8AC3E}">
        <p14:creationId xmlns:p14="http://schemas.microsoft.com/office/powerpoint/2010/main" val="3118117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The surge would push four units past their beds</a:t>
            </a:r>
            <a:endParaRPr lang="en-US" sz="3000" dirty="0"/>
          </a:p>
        </p:txBody>
      </p:sp>
      <p:graphicFrame>
        <p:nvGraphicFramePr>
          <p:cNvPr id="5" name="Table 0"/>
          <p:cNvGraphicFramePr>
            <a:graphicFrameLocks noGrp="1"/>
          </p:cNvGraphicFramePr>
          <p:nvPr/>
        </p:nvGraphicFramePr>
        <p:xfrm>
          <a:off x="812800" y="1699260"/>
          <a:ext cx="10566400" cy="2286000"/>
        </p:xfrm>
        <a:graphic>
          <a:graphicData uri="http://schemas.openxmlformats.org/drawingml/2006/table">
            <a:tbl>
              <a:tblPr firstRow="1"/>
              <a:tblGrid>
                <a:gridCol w="3381247">
                  <a:extLst>
                    <a:ext uri="{9D8B030D-6E8A-4147-A177-3AD203B41FA5}">
                      <a16:colId xmlns:a16="http://schemas.microsoft.com/office/drawing/2014/main" val="20000"/>
                    </a:ext>
                  </a:extLst>
                </a:gridCol>
                <a:gridCol w="1796288">
                  <a:extLst>
                    <a:ext uri="{9D8B030D-6E8A-4147-A177-3AD203B41FA5}">
                      <a16:colId xmlns:a16="http://schemas.microsoft.com/office/drawing/2014/main" val="20001"/>
                    </a:ext>
                  </a:extLst>
                </a:gridCol>
                <a:gridCol w="1796288">
                  <a:extLst>
                    <a:ext uri="{9D8B030D-6E8A-4147-A177-3AD203B41FA5}">
                      <a16:colId xmlns:a16="http://schemas.microsoft.com/office/drawing/2014/main" val="20002"/>
                    </a:ext>
                  </a:extLst>
                </a:gridCol>
                <a:gridCol w="1796288">
                  <a:extLst>
                    <a:ext uri="{9D8B030D-6E8A-4147-A177-3AD203B41FA5}">
                      <a16:colId xmlns:a16="http://schemas.microsoft.com/office/drawing/2014/main" val="20003"/>
                    </a:ext>
                  </a:extLst>
                </a:gridCol>
                <a:gridCol w="1796289">
                  <a:extLst>
                    <a:ext uri="{9D8B030D-6E8A-4147-A177-3AD203B41FA5}">
                      <a16:colId xmlns:a16="http://schemas.microsoft.com/office/drawing/2014/main" val="20004"/>
                    </a:ext>
                  </a:extLst>
                </a:gridCol>
              </a:tblGrid>
              <a:tr h="457200">
                <a:tc>
                  <a:txBody>
                    <a:bodyPr/>
                    <a:lstStyle/>
                    <a:p>
                      <a:pPr marL="0" indent="0">
                        <a:lnSpc>
                          <a:spcPts val="1960"/>
                        </a:lnSpc>
                        <a:buNone/>
                      </a:pPr>
                      <a:r>
                        <a:rPr lang="en-US" sz="1400" b="1" dirty="0">
                          <a:solidFill>
                            <a:srgbClr val="F3F1EC"/>
                          </a:solidFill>
                          <a:latin typeface="Inter" pitchFamily="34" charset="0"/>
                          <a:ea typeface="Inter" pitchFamily="34" charset="-122"/>
                          <a:cs typeface="Inter" pitchFamily="34" charset="-120"/>
                        </a:rPr>
                        <a:t>Unit, January 2027</a:t>
                      </a:r>
                      <a:endParaRPr lang="en-US" sz="14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gn="r">
                        <a:lnSpc>
                          <a:spcPts val="1960"/>
                        </a:lnSpc>
                        <a:buNone/>
                      </a:pPr>
                      <a:r>
                        <a:rPr lang="en-US" sz="1400" b="1" dirty="0">
                          <a:solidFill>
                            <a:srgbClr val="F3F1EC"/>
                          </a:solidFill>
                          <a:latin typeface="Inter" pitchFamily="34" charset="0"/>
                          <a:ea typeface="Inter" pitchFamily="34" charset="-122"/>
                          <a:cs typeface="Inter" pitchFamily="34" charset="-120"/>
                        </a:rPr>
                        <a:t>Patient days</a:t>
                      </a:r>
                      <a:endParaRPr lang="en-US" sz="14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gn="r">
                        <a:lnSpc>
                          <a:spcPts val="1960"/>
                        </a:lnSpc>
                        <a:buNone/>
                      </a:pPr>
                      <a:r>
                        <a:rPr lang="en-US" sz="1400" b="1" dirty="0">
                          <a:solidFill>
                            <a:srgbClr val="F3F1EC"/>
                          </a:solidFill>
                          <a:latin typeface="Inter" pitchFamily="34" charset="0"/>
                          <a:ea typeface="Inter" pitchFamily="34" charset="-122"/>
                          <a:cs typeface="Inter" pitchFamily="34" charset="-120"/>
                        </a:rPr>
                        <a:t>Patients per day</a:t>
                      </a:r>
                      <a:endParaRPr lang="en-US" sz="14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gn="r">
                        <a:lnSpc>
                          <a:spcPts val="1960"/>
                        </a:lnSpc>
                        <a:buNone/>
                      </a:pPr>
                      <a:r>
                        <a:rPr lang="en-US" sz="1400" b="1" dirty="0">
                          <a:solidFill>
                            <a:srgbClr val="F3F1EC"/>
                          </a:solidFill>
                          <a:latin typeface="Inter" pitchFamily="34" charset="0"/>
                          <a:ea typeface="Inter" pitchFamily="34" charset="-122"/>
                          <a:cs typeface="Inter" pitchFamily="34" charset="-120"/>
                        </a:rPr>
                        <a:t>Staffed beds</a:t>
                      </a:r>
                      <a:endParaRPr lang="en-US" sz="14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gn="r">
                        <a:lnSpc>
                          <a:spcPts val="1960"/>
                        </a:lnSpc>
                        <a:buNone/>
                      </a:pPr>
                      <a:r>
                        <a:rPr lang="en-US" sz="1400" b="1" dirty="0">
                          <a:solidFill>
                            <a:srgbClr val="F3F1EC"/>
                          </a:solidFill>
                          <a:latin typeface="Inter" pitchFamily="34" charset="0"/>
                          <a:ea typeface="Inter" pitchFamily="34" charset="-122"/>
                          <a:cs typeface="Inter" pitchFamily="34" charset="-120"/>
                        </a:rPr>
                        <a:t>Occupancy</a:t>
                      </a:r>
                      <a:endParaRPr lang="en-US" sz="14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extLst>
                  <a:ext uri="{0D108BD9-81ED-4DB2-BD59-A6C34878D82A}">
                    <a16:rowId xmlns:a16="http://schemas.microsoft.com/office/drawing/2014/main" val="10000"/>
                  </a:ext>
                </a:extLst>
              </a:tr>
              <a:tr h="457200">
                <a:tc>
                  <a:txBody>
                    <a:bodyPr/>
                    <a:lstStyle/>
                    <a:p>
                      <a:pPr marL="0" indent="0">
                        <a:lnSpc>
                          <a:spcPts val="1960"/>
                        </a:lnSpc>
                        <a:buNone/>
                      </a:pPr>
                      <a:r>
                        <a:rPr lang="en-US" sz="1400" b="1" dirty="0">
                          <a:solidFill>
                            <a:srgbClr val="F3F1EC"/>
                          </a:solidFill>
                          <a:latin typeface="Inter" pitchFamily="34" charset="0"/>
                          <a:ea typeface="Inter" pitchFamily="34" charset="-122"/>
                          <a:cs typeface="Inter" pitchFamily="34" charset="-120"/>
                        </a:rPr>
                        <a:t>Med-Surg 3 East</a:t>
                      </a:r>
                      <a:endParaRPr lang="en-US" sz="14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1,210</a:t>
                      </a:r>
                      <a:endParaRPr lang="en-US" sz="14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39</a:t>
                      </a:r>
                      <a:endParaRPr lang="en-US" sz="14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32</a:t>
                      </a:r>
                      <a:endParaRPr lang="en-US" sz="14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≈122%</a:t>
                      </a:r>
                      <a:endParaRPr lang="en-US" sz="14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1"/>
                  </a:ext>
                </a:extLst>
              </a:tr>
              <a:tr h="457200">
                <a:tc>
                  <a:txBody>
                    <a:bodyPr/>
                    <a:lstStyle/>
                    <a:p>
                      <a:pPr marL="0" indent="0">
                        <a:lnSpc>
                          <a:spcPts val="1960"/>
                        </a:lnSpc>
                        <a:buNone/>
                      </a:pPr>
                      <a:r>
                        <a:rPr lang="en-US" sz="1400" b="1" dirty="0">
                          <a:solidFill>
                            <a:srgbClr val="F3F1EC"/>
                          </a:solidFill>
                          <a:latin typeface="Inter" pitchFamily="34" charset="0"/>
                          <a:ea typeface="Inter" pitchFamily="34" charset="-122"/>
                          <a:cs typeface="Inter" pitchFamily="34" charset="-120"/>
                        </a:rPr>
                        <a:t>Med-Surg 3 West</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1,210</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39</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32</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≈122%</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2"/>
                  </a:ext>
                </a:extLst>
              </a:tr>
              <a:tr h="457200">
                <a:tc>
                  <a:txBody>
                    <a:bodyPr/>
                    <a:lstStyle/>
                    <a:p>
                      <a:pPr marL="0" indent="0">
                        <a:lnSpc>
                          <a:spcPts val="1960"/>
                        </a:lnSpc>
                        <a:buNone/>
                      </a:pPr>
                      <a:r>
                        <a:rPr lang="en-US" sz="1400" b="1" dirty="0">
                          <a:solidFill>
                            <a:srgbClr val="F3F1EC"/>
                          </a:solidFill>
                          <a:latin typeface="Inter" pitchFamily="34" charset="0"/>
                          <a:ea typeface="Inter" pitchFamily="34" charset="-122"/>
                          <a:cs typeface="Inter" pitchFamily="34" charset="-120"/>
                        </a:rPr>
                        <a:t>Telemetry</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1,310</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42</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36</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≈117%</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3"/>
                  </a:ext>
                </a:extLst>
              </a:tr>
              <a:tr h="457200">
                <a:tc>
                  <a:txBody>
                    <a:bodyPr/>
                    <a:lstStyle/>
                    <a:p>
                      <a:pPr marL="0" indent="0">
                        <a:lnSpc>
                          <a:spcPts val="1960"/>
                        </a:lnSpc>
                        <a:buNone/>
                      </a:pPr>
                      <a:r>
                        <a:rPr lang="en-US" sz="1400" b="1" dirty="0">
                          <a:solidFill>
                            <a:srgbClr val="F3F1EC"/>
                          </a:solidFill>
                          <a:latin typeface="Inter" pitchFamily="34" charset="0"/>
                          <a:ea typeface="Inter" pitchFamily="34" charset="-122"/>
                          <a:cs typeface="Inter" pitchFamily="34" charset="-120"/>
                        </a:rPr>
                        <a:t>ICU</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833</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27</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24</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≈112%</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extLst>
                  <a:ext uri="{0D108BD9-81ED-4DB2-BD59-A6C34878D82A}">
                    <a16:rowId xmlns:a16="http://schemas.microsoft.com/office/drawing/2014/main" val="10004"/>
                  </a:ext>
                </a:extLst>
              </a:tr>
            </a:tbl>
          </a:graphicData>
        </a:graphic>
      </p:graphicFrame>
      <p:sp>
        <p:nvSpPr>
          <p:cNvPr id="6" name="Shape 3"/>
          <p:cNvSpPr/>
          <p:nvPr/>
        </p:nvSpPr>
        <p:spPr>
          <a:xfrm>
            <a:off x="812800" y="4267200"/>
            <a:ext cx="10566400" cy="914400"/>
          </a:xfrm>
          <a:prstGeom prst="roundRect">
            <a:avLst>
              <a:gd name="adj" fmla="val 11905"/>
            </a:avLst>
          </a:prstGeom>
          <a:solidFill>
            <a:srgbClr val="3A2B26"/>
          </a:solidFill>
          <a:ln/>
        </p:spPr>
        <p:txBody>
          <a:bodyPr/>
          <a:lstStyle/>
          <a:p>
            <a:endParaRPr lang="en-US"/>
          </a:p>
        </p:txBody>
      </p:sp>
      <p:pic>
        <p:nvPicPr>
          <p:cNvPr id="7" name="Image 0" descr="Warning"/>
          <p:cNvPicPr>
            <a:picLocks noChangeAspect="1"/>
          </p:cNvPicPr>
          <p:nvPr/>
        </p:nvPicPr>
        <p:blipFill>
          <a:blip r:embed="rId3"/>
          <a:srcRect t="-174" b="-174"/>
          <a:stretch/>
        </p:blipFill>
        <p:spPr>
          <a:xfrm>
            <a:off x="1066800" y="4597400"/>
            <a:ext cx="227806" cy="254000"/>
          </a:xfrm>
          <a:prstGeom prst="rect">
            <a:avLst/>
          </a:prstGeom>
        </p:spPr>
      </p:pic>
      <p:sp>
        <p:nvSpPr>
          <p:cNvPr id="8" name="Text 4"/>
          <p:cNvSpPr/>
          <p:nvPr/>
        </p:nvSpPr>
        <p:spPr>
          <a:xfrm>
            <a:off x="1447006" y="4267200"/>
            <a:ext cx="9968540" cy="914400"/>
          </a:xfrm>
          <a:prstGeom prst="rect">
            <a:avLst/>
          </a:prstGeom>
          <a:noFill/>
          <a:ln/>
        </p:spPr>
        <p:txBody>
          <a:bodyPr wrap="square" lIns="0" tIns="0" rIns="0" bIns="0" rtlCol="0" anchor="ctr" anchorCtr="0">
            <a:normAutofit/>
          </a:bodyPr>
          <a:lstStyle/>
          <a:p>
            <a:pPr marL="0" indent="0" algn="l">
              <a:lnSpc>
                <a:spcPts val="1960"/>
              </a:lnSpc>
              <a:buNone/>
            </a:pPr>
            <a:r>
              <a:rPr lang="en-US" sz="1400" dirty="0">
                <a:solidFill>
                  <a:srgbClr val="F3F1EC"/>
                </a:solidFill>
                <a:latin typeface="Inter" pitchFamily="34" charset="0"/>
                <a:ea typeface="Inter" pitchFamily="34" charset="-122"/>
                <a:cs typeface="Inter" pitchFamily="34" charset="-120"/>
              </a:rPr>
              <a:t>Not only a staffing problem: the hospital would be out of beds. Plan for overflow units, diversion and agency cover before winter.</a:t>
            </a:r>
            <a:endParaRPr lang="en-US" sz="1400" dirty="0"/>
          </a:p>
        </p:txBody>
      </p:sp>
      <p:sp>
        <p:nvSpPr>
          <p:cNvPr id="10" name="Text 6"/>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11"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SCENARIOS · BED CAPACITY</a:t>
            </a:r>
          </a:p>
        </p:txBody>
      </p:sp>
    </p:spTree>
    <p:extLst>
      <p:ext uri="{BB962C8B-B14F-4D97-AF65-F5344CB8AC3E}">
        <p14:creationId xmlns:p14="http://schemas.microsoft.com/office/powerpoint/2010/main" val="30762640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10" name="Insight bar">
            <a:extLst>
              <a:ext uri="{FF2B5EF4-FFF2-40B4-BE49-F238E27FC236}">
                <a16:creationId xmlns:a16="http://schemas.microsoft.com/office/drawing/2014/main" id="{E3FCB613-8B3D-49CD-8EE2-734893E4EB00}"/>
              </a:ext>
            </a:extLst>
          </p:cNvPr>
          <p:cNvSpPr/>
          <p:nvPr/>
        </p:nvSpPr>
        <p:spPr>
          <a:xfrm>
            <a:off x="812800" y="4673600"/>
            <a:ext cx="50800" cy="914400"/>
          </a:xfrm>
          <a:prstGeom prst="rect">
            <a:avLst/>
          </a:prstGeom>
          <a:solidFill>
            <a:srgbClr val="6CC2B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Insight band">
            <a:extLst>
              <a:ext uri="{FF2B5EF4-FFF2-40B4-BE49-F238E27FC236}">
                <a16:creationId xmlns:a16="http://schemas.microsoft.com/office/drawing/2014/main" id="{DB602466-5E08-48F8-B362-E52504F9D748}"/>
              </a:ext>
            </a:extLst>
          </p:cNvPr>
          <p:cNvSpPr/>
          <p:nvPr/>
        </p:nvSpPr>
        <p:spPr>
          <a:xfrm>
            <a:off x="812800" y="4673600"/>
            <a:ext cx="10566400" cy="914400"/>
          </a:xfrm>
          <a:prstGeom prst="rect">
            <a:avLst/>
          </a:prstGeom>
          <a:solidFill>
            <a:srgbClr val="173A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Four scenarios against one baseline</a:t>
            </a:r>
            <a:endParaRPr lang="en-US" sz="3000" dirty="0"/>
          </a:p>
        </p:txBody>
      </p:sp>
      <p:graphicFrame>
        <p:nvGraphicFramePr>
          <p:cNvPr id="5" name="Table 0"/>
          <p:cNvGraphicFramePr>
            <a:graphicFrameLocks noGrp="1"/>
          </p:cNvGraphicFramePr>
          <p:nvPr/>
        </p:nvGraphicFramePr>
        <p:xfrm>
          <a:off x="812800" y="1699260"/>
          <a:ext cx="10566400" cy="2664460"/>
        </p:xfrm>
        <a:graphic>
          <a:graphicData uri="http://schemas.openxmlformats.org/drawingml/2006/table">
            <a:tbl>
              <a:tblPr firstRow="1"/>
              <a:tblGrid>
                <a:gridCol w="2794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gridCol w="1778000">
                  <a:extLst>
                    <a:ext uri="{9D8B030D-6E8A-4147-A177-3AD203B41FA5}">
                      <a16:colId xmlns:a16="http://schemas.microsoft.com/office/drawing/2014/main" val="20003"/>
                    </a:ext>
                  </a:extLst>
                </a:gridCol>
                <a:gridCol w="2438400">
                  <a:extLst>
                    <a:ext uri="{9D8B030D-6E8A-4147-A177-3AD203B41FA5}">
                      <a16:colId xmlns:a16="http://schemas.microsoft.com/office/drawing/2014/main" val="20004"/>
                    </a:ext>
                  </a:extLst>
                </a:gridCol>
              </a:tblGrid>
              <a:tr h="508000">
                <a:tc>
                  <a:txBody>
                    <a:bodyPr/>
                    <a:lstStyle/>
                    <a:p>
                      <a:pPr marL="0" indent="0">
                        <a:lnSpc>
                          <a:spcPts val="1960"/>
                        </a:lnSpc>
                        <a:buNone/>
                      </a:pPr>
                      <a:r>
                        <a:rPr lang="en-US" sz="1400" b="1" dirty="0">
                          <a:solidFill>
                            <a:srgbClr val="F3F1EC"/>
                          </a:solidFill>
                          <a:latin typeface="Inter" pitchFamily="34" charset="0"/>
                          <a:ea typeface="Inter" pitchFamily="34" charset="-122"/>
                          <a:cs typeface="Inter" pitchFamily="34" charset="-120"/>
                        </a:rPr>
                        <a:t>2027, all inpatient units</a:t>
                      </a:r>
                      <a:endParaRPr lang="en-US" sz="14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gn="r">
                        <a:lnSpc>
                          <a:spcPts val="1960"/>
                        </a:lnSpc>
                        <a:buNone/>
                      </a:pPr>
                      <a:r>
                        <a:rPr lang="en-US" sz="1400" b="1" dirty="0">
                          <a:solidFill>
                            <a:srgbClr val="F3F1EC"/>
                          </a:solidFill>
                          <a:latin typeface="Inter" pitchFamily="34" charset="0"/>
                          <a:ea typeface="Inter" pitchFamily="34" charset="-122"/>
                          <a:cs typeface="Inter" pitchFamily="34" charset="-120"/>
                        </a:rPr>
                        <a:t>−5%</a:t>
                      </a:r>
                      <a:endParaRPr lang="en-US" sz="14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gn="r">
                        <a:lnSpc>
                          <a:spcPts val="1960"/>
                        </a:lnSpc>
                        <a:buNone/>
                      </a:pPr>
                      <a:r>
                        <a:rPr lang="en-US" sz="1400" b="1" dirty="0">
                          <a:solidFill>
                            <a:srgbClr val="F3F1EC"/>
                          </a:solidFill>
                          <a:latin typeface="Inter" pitchFamily="34" charset="0"/>
                          <a:ea typeface="Inter" pitchFamily="34" charset="-122"/>
                          <a:cs typeface="Inter" pitchFamily="34" charset="-120"/>
                        </a:rPr>
                        <a:t>Base</a:t>
                      </a:r>
                      <a:endParaRPr lang="en-US" sz="14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gn="r">
                        <a:lnSpc>
                          <a:spcPts val="1960"/>
                        </a:lnSpc>
                        <a:buNone/>
                      </a:pPr>
                      <a:r>
                        <a:rPr lang="en-US" sz="1400" b="1" dirty="0">
                          <a:solidFill>
                            <a:srgbClr val="F3F1EC"/>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tc>
                  <a:txBody>
                    <a:bodyPr/>
                    <a:lstStyle/>
                    <a:p>
                      <a:pPr marL="0" indent="0" algn="r">
                        <a:lnSpc>
                          <a:spcPts val="1960"/>
                        </a:lnSpc>
                        <a:buNone/>
                      </a:pPr>
                      <a:r>
                        <a:rPr lang="en-US" sz="1400" b="1" dirty="0">
                          <a:solidFill>
                            <a:srgbClr val="F3F1EC"/>
                          </a:solidFill>
                          <a:latin typeface="Inter" pitchFamily="34" charset="0"/>
                          <a:ea typeface="Inter" pitchFamily="34" charset="-122"/>
                          <a:cs typeface="Inter" pitchFamily="34" charset="-120"/>
                        </a:rPr>
                        <a:t>Respiratory surge</a:t>
                      </a:r>
                      <a:endParaRPr lang="en-US" sz="1400" dirty="0">
                        <a:latin typeface="Inter" charset="0"/>
                        <a:ea typeface="Inter" charset="0"/>
                        <a:cs typeface="Inter" charset="0"/>
                      </a:endParaRPr>
                    </a:p>
                  </a:txBody>
                  <a:tcPr marT="64008" marB="64008" anchor="ctr">
                    <a:lnL w="12700">
                      <a:noFill/>
                    </a:lnL>
                    <a:lnR w="12700">
                      <a:noFill/>
                    </a:lnR>
                    <a:lnT w="12700">
                      <a:noFill/>
                    </a:lnT>
                    <a:lnB w="19050">
                      <a:solidFill>
                        <a:srgbClr val="6CC2B4"/>
                      </a:solidFill>
                    </a:lnB>
                    <a:noFill/>
                  </a:tcPr>
                </a:tc>
                <a:extLst>
                  <a:ext uri="{0D108BD9-81ED-4DB2-BD59-A6C34878D82A}">
                    <a16:rowId xmlns:a16="http://schemas.microsoft.com/office/drawing/2014/main" val="10000"/>
                  </a:ext>
                </a:extLst>
              </a:tr>
              <a:tr h="508000">
                <a:tc>
                  <a:txBody>
                    <a:bodyPr/>
                    <a:lstStyle/>
                    <a:p>
                      <a:pPr marL="0" indent="0">
                        <a:lnSpc>
                          <a:spcPts val="1960"/>
                        </a:lnSpc>
                        <a:buNone/>
                      </a:pPr>
                      <a:r>
                        <a:rPr lang="en-US" sz="1400" b="1" dirty="0">
                          <a:solidFill>
                            <a:srgbClr val="F3F1EC"/>
                          </a:solidFill>
                          <a:latin typeface="Inter" pitchFamily="34" charset="0"/>
                          <a:ea typeface="Inter" pitchFamily="34" charset="-122"/>
                          <a:cs typeface="Inter" pitchFamily="34" charset="-120"/>
                        </a:rPr>
                        <a:t>Patient days</a:t>
                      </a:r>
                      <a:endParaRPr lang="en-US" sz="14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89,470</a:t>
                      </a:r>
                      <a:endParaRPr lang="en-US" sz="14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94,180</a:t>
                      </a:r>
                      <a:endParaRPr lang="en-US" sz="14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103,600</a:t>
                      </a:r>
                      <a:endParaRPr lang="en-US" sz="14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97,600</a:t>
                      </a:r>
                      <a:endParaRPr lang="en-US" sz="1400" dirty="0">
                        <a:latin typeface="Inter" charset="0"/>
                        <a:ea typeface="Inter" charset="0"/>
                        <a:cs typeface="Inter" charset="0"/>
                      </a:endParaRPr>
                    </a:p>
                  </a:txBody>
                  <a:tcPr marT="64008" marB="64008" anchor="ctr">
                    <a:lnL w="12700">
                      <a:noFill/>
                    </a:lnL>
                    <a:lnR w="12700">
                      <a:noFill/>
                    </a:lnR>
                    <a:lnT w="19050" cap="flat" cmpd="sng" algn="ctr">
                      <a:solidFill>
                        <a:srgbClr val="6CC2B4"/>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1"/>
                  </a:ext>
                </a:extLst>
              </a:tr>
              <a:tr h="508000">
                <a:tc>
                  <a:txBody>
                    <a:bodyPr/>
                    <a:lstStyle/>
                    <a:p>
                      <a:pPr marL="0" indent="0">
                        <a:lnSpc>
                          <a:spcPts val="1960"/>
                        </a:lnSpc>
                        <a:buNone/>
                      </a:pPr>
                      <a:r>
                        <a:rPr lang="en-US" sz="1400" b="1" dirty="0">
                          <a:solidFill>
                            <a:srgbClr val="F3F1EC"/>
                          </a:solidFill>
                          <a:latin typeface="Inter" pitchFamily="34" charset="0"/>
                          <a:ea typeface="Inter" pitchFamily="34" charset="-122"/>
                          <a:cs typeface="Inter" pitchFamily="34" charset="-120"/>
                        </a:rPr>
                        <a:t>Nursing hours</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≈898,000</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≈945,000</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≈1,040,000</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≈980,000</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2"/>
                  </a:ext>
                </a:extLst>
              </a:tr>
              <a:tr h="632460">
                <a:tc>
                  <a:txBody>
                    <a:bodyPr/>
                    <a:lstStyle/>
                    <a:p>
                      <a:pPr marL="0" indent="0">
                        <a:lnSpc>
                          <a:spcPts val="1960"/>
                        </a:lnSpc>
                        <a:buNone/>
                      </a:pPr>
                      <a:r>
                        <a:rPr lang="en-US" sz="1400" b="1" dirty="0">
                          <a:solidFill>
                            <a:srgbClr val="F3F1EC"/>
                          </a:solidFill>
                          <a:latin typeface="Inter" pitchFamily="34" charset="0"/>
                          <a:ea typeface="Inter" pitchFamily="34" charset="-122"/>
                          <a:cs typeface="Inter" pitchFamily="34" charset="-120"/>
                        </a:rPr>
                        <a:t>Paid FTE (average)</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≈488</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≈514</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≈565</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+76 in surge months</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solidFill>
                        <a:srgbClr val="2E4A6B"/>
                      </a:solidFill>
                    </a:lnB>
                    <a:noFill/>
                  </a:tcPr>
                </a:tc>
                <a:extLst>
                  <a:ext uri="{0D108BD9-81ED-4DB2-BD59-A6C34878D82A}">
                    <a16:rowId xmlns:a16="http://schemas.microsoft.com/office/drawing/2014/main" val="10003"/>
                  </a:ext>
                </a:extLst>
              </a:tr>
              <a:tr h="508000">
                <a:tc>
                  <a:txBody>
                    <a:bodyPr/>
                    <a:lstStyle/>
                    <a:p>
                      <a:pPr marL="0" indent="0">
                        <a:lnSpc>
                          <a:spcPts val="1960"/>
                        </a:lnSpc>
                        <a:buNone/>
                      </a:pPr>
                      <a:r>
                        <a:rPr lang="en-US" sz="1400" b="1" dirty="0">
                          <a:solidFill>
                            <a:srgbClr val="F3F1EC"/>
                          </a:solidFill>
                          <a:latin typeface="Inter" pitchFamily="34" charset="0"/>
                          <a:ea typeface="Inter" pitchFamily="34" charset="-122"/>
                          <a:cs typeface="Inter" pitchFamily="34" charset="-120"/>
                        </a:rPr>
                        <a:t>Labor cost</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≈$54.6M</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≈$57.5M</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≈$63.3M</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tc>
                  <a:txBody>
                    <a:bodyPr/>
                    <a:lstStyle/>
                    <a:p>
                      <a:pPr marL="0" indent="0" algn="r">
                        <a:lnSpc>
                          <a:spcPts val="1960"/>
                        </a:lnSpc>
                        <a:buNone/>
                      </a:pPr>
                      <a:r>
                        <a:rPr lang="en-US" sz="1400" dirty="0">
                          <a:solidFill>
                            <a:srgbClr val="D6D2C8"/>
                          </a:solidFill>
                          <a:latin typeface="Inter" pitchFamily="34" charset="0"/>
                          <a:ea typeface="Inter" pitchFamily="34" charset="-122"/>
                          <a:cs typeface="Inter" pitchFamily="34" charset="-120"/>
                        </a:rPr>
                        <a:t>≈$59.6M</a:t>
                      </a:r>
                      <a:endParaRPr lang="en-US" sz="1400" dirty="0">
                        <a:latin typeface="Inter" charset="0"/>
                        <a:ea typeface="Inter" charset="0"/>
                        <a:cs typeface="Inter" charset="0"/>
                      </a:endParaRPr>
                    </a:p>
                  </a:txBody>
                  <a:tcPr marT="64008" marB="64008" anchor="ctr">
                    <a:lnL w="12700">
                      <a:noFill/>
                    </a:lnL>
                    <a:lnR w="12700">
                      <a:noFill/>
                    </a:lnR>
                    <a:lnT w="12700" cap="flat" cmpd="sng" algn="ctr">
                      <a:solidFill>
                        <a:srgbClr val="2E4A6B"/>
                      </a:solidFill>
                      <a:prstDash val="solid"/>
                      <a:round/>
                      <a:headEnd type="none" w="med" len="med"/>
                      <a:tailEnd type="none" w="med" len="med"/>
                    </a:lnT>
                    <a:lnB w="12700">
                      <a:noFill/>
                    </a:lnB>
                    <a:noFill/>
                  </a:tcPr>
                </a:tc>
                <a:extLst>
                  <a:ext uri="{0D108BD9-81ED-4DB2-BD59-A6C34878D82A}">
                    <a16:rowId xmlns:a16="http://schemas.microsoft.com/office/drawing/2014/main" val="10004"/>
                  </a:ext>
                </a:extLst>
              </a:tr>
            </a:tbl>
          </a:graphicData>
        </a:graphic>
      </p:graphicFrame>
      <p:sp>
        <p:nvSpPr>
          <p:cNvPr id="6" name="Text 3"/>
          <p:cNvSpPr/>
          <p:nvPr/>
        </p:nvSpPr>
        <p:spPr>
          <a:xfrm>
            <a:off x="1168400" y="4800600"/>
            <a:ext cx="10033000" cy="660400"/>
          </a:xfrm>
          <a:prstGeom prst="rect">
            <a:avLst/>
          </a:prstGeom>
          <a:noFill/>
          <a:ln/>
        </p:spPr>
        <p:txBody>
          <a:bodyPr wrap="square" lIns="0" tIns="0" rIns="0" bIns="0" rtlCol="0" anchor="ctr" anchorCtr="0">
            <a:normAutofit/>
          </a:bodyPr>
          <a:lstStyle/>
          <a:p>
            <a:pPr marL="0" indent="0" algn="l">
              <a:lnSpc>
                <a:spcPts val="2100"/>
              </a:lnSpc>
              <a:buNone/>
            </a:pPr>
            <a:r>
              <a:rPr lang="en-US" sz="1500" dirty="0">
                <a:solidFill>
                  <a:srgbClr val="F3F1EC"/>
                </a:solidFill>
                <a:latin typeface="Inter" pitchFamily="34" charset="0"/>
                <a:ea typeface="Inter" pitchFamily="34" charset="-122"/>
                <a:cs typeface="Inter" pitchFamily="34" charset="-120"/>
              </a:rPr>
              <a:t>Same drivers, four answers. The surge adds the least volume, yet it is the hardest to staff, because it all lands in three months.</a:t>
            </a:r>
            <a:endParaRPr lang="en-US" sz="1500" dirty="0"/>
          </a:p>
        </p:txBody>
      </p:sp>
      <p:sp>
        <p:nvSpPr>
          <p:cNvPr id="7" name="Text 4"/>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sp>
        <p:nvSpPr>
          <p:cNvPr id="8"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SCENARIOS · COMPARISON</a:t>
            </a:r>
          </a:p>
        </p:txBody>
      </p:sp>
    </p:spTree>
    <p:extLst>
      <p:ext uri="{BB962C8B-B14F-4D97-AF65-F5344CB8AC3E}">
        <p14:creationId xmlns:p14="http://schemas.microsoft.com/office/powerpoint/2010/main" val="460066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24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3F1EC"/>
                </a:solidFill>
                <a:latin typeface="Source Serif 4" pitchFamily="18" charset="0"/>
                <a:ea typeface="Source Serif 4" pitchFamily="18" charset="-122"/>
                <a:cs typeface="Source Serif 4" pitchFamily="18" charset="-120"/>
              </a:rPr>
              <a:t>Reading the Compare view</a:t>
            </a:r>
            <a:endParaRPr lang="en-US" sz="3000" dirty="0"/>
          </a:p>
        </p:txBody>
      </p:sp>
      <p:sp>
        <p:nvSpPr>
          <p:cNvPr id="3" name="Shape 1"/>
          <p:cNvSpPr/>
          <p:nvPr/>
        </p:nvSpPr>
        <p:spPr>
          <a:xfrm>
            <a:off x="815975" y="1590675"/>
            <a:ext cx="5668010" cy="3045460"/>
          </a:xfrm>
          <a:prstGeom prst="roundRect">
            <a:avLst>
              <a:gd name="adj" fmla="val 3232"/>
            </a:avLst>
          </a:prstGeom>
          <a:solidFill>
            <a:srgbClr val="1E3350"/>
          </a:solidFill>
          <a:ln w="6350">
            <a:solidFill>
              <a:srgbClr val="2E4A6B"/>
            </a:solidFill>
            <a:prstDash val="solid"/>
          </a:ln>
        </p:spPr>
        <p:txBody>
          <a:bodyPr/>
          <a:lstStyle/>
          <a:p>
            <a:endParaRPr lang="en-US"/>
          </a:p>
        </p:txBody>
      </p:sp>
      <p:sp>
        <p:nvSpPr>
          <p:cNvPr id="5" name="Shape 2"/>
          <p:cNvSpPr/>
          <p:nvPr/>
        </p:nvSpPr>
        <p:spPr>
          <a:xfrm>
            <a:off x="6842760" y="1633860"/>
            <a:ext cx="76200" cy="76200"/>
          </a:xfrm>
          <a:prstGeom prst="roundRect">
            <a:avLst>
              <a:gd name="adj" fmla="val 50000"/>
            </a:avLst>
          </a:prstGeom>
          <a:solidFill>
            <a:srgbClr val="1D7A6E"/>
          </a:solidFill>
          <a:ln/>
        </p:spPr>
        <p:txBody>
          <a:bodyPr/>
          <a:lstStyle/>
          <a:p>
            <a:endParaRPr lang="en-US"/>
          </a:p>
        </p:txBody>
      </p:sp>
      <p:sp>
        <p:nvSpPr>
          <p:cNvPr id="6" name="Text 3"/>
          <p:cNvSpPr/>
          <p:nvPr/>
        </p:nvSpPr>
        <p:spPr>
          <a:xfrm>
            <a:off x="7020560" y="1633860"/>
            <a:ext cx="4489399"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3F1EC"/>
                </a:solidFill>
                <a:latin typeface="Inter" pitchFamily="34" charset="0"/>
                <a:ea typeface="Inter" pitchFamily="34" charset="-122"/>
                <a:cs typeface="Inter" pitchFamily="34" charset="-120"/>
              </a:rPr>
              <a:t>Base Scenario</a:t>
            </a:r>
            <a:r>
              <a:rPr lang="en-US" sz="1300" dirty="0">
                <a:solidFill>
                  <a:srgbClr val="F3F1EC"/>
                </a:solidFill>
                <a:latin typeface="Inter" pitchFamily="34" charset="0"/>
                <a:ea typeface="Inter" pitchFamily="34" charset="-122"/>
                <a:cs typeface="Inter" pitchFamily="34" charset="-120"/>
              </a:rPr>
              <a:t>: the forecast as Predict produced it</a:t>
            </a:r>
            <a:endParaRPr lang="en-US" sz="1300" dirty="0"/>
          </a:p>
        </p:txBody>
      </p:sp>
      <p:sp>
        <p:nvSpPr>
          <p:cNvPr id="7" name="Shape 4"/>
          <p:cNvSpPr/>
          <p:nvPr/>
        </p:nvSpPr>
        <p:spPr>
          <a:xfrm>
            <a:off x="6842760" y="2017402"/>
            <a:ext cx="76200" cy="76200"/>
          </a:xfrm>
          <a:prstGeom prst="roundRect">
            <a:avLst>
              <a:gd name="adj" fmla="val 50000"/>
            </a:avLst>
          </a:prstGeom>
          <a:solidFill>
            <a:srgbClr val="1D7A6E"/>
          </a:solidFill>
          <a:ln/>
        </p:spPr>
        <p:txBody>
          <a:bodyPr/>
          <a:lstStyle/>
          <a:p>
            <a:endParaRPr lang="en-US"/>
          </a:p>
        </p:txBody>
      </p:sp>
      <p:sp>
        <p:nvSpPr>
          <p:cNvPr id="8" name="Text 5"/>
          <p:cNvSpPr/>
          <p:nvPr/>
        </p:nvSpPr>
        <p:spPr>
          <a:xfrm>
            <a:off x="7020560" y="2017402"/>
            <a:ext cx="4489399"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3F1EC"/>
                </a:solidFill>
                <a:latin typeface="Inter" pitchFamily="34" charset="0"/>
                <a:ea typeface="Inter" pitchFamily="34" charset="-122"/>
                <a:cs typeface="Inter" pitchFamily="34" charset="-120"/>
              </a:rPr>
              <a:t>Forecast plus 10 / minus 5</a:t>
            </a:r>
            <a:r>
              <a:rPr lang="en-US" sz="1300" dirty="0">
                <a:solidFill>
                  <a:srgbClr val="F3F1EC"/>
                </a:solidFill>
                <a:latin typeface="Inter" pitchFamily="34" charset="0"/>
                <a:ea typeface="Inter" pitchFamily="34" charset="-122"/>
                <a:cs typeface="Inter" pitchFamily="34" charset="-120"/>
              </a:rPr>
              <a:t>: base with volume raised or lowered</a:t>
            </a:r>
            <a:endParaRPr lang="en-US" sz="1300" dirty="0"/>
          </a:p>
        </p:txBody>
      </p:sp>
      <p:sp>
        <p:nvSpPr>
          <p:cNvPr id="9" name="Shape 6"/>
          <p:cNvSpPr/>
          <p:nvPr/>
        </p:nvSpPr>
        <p:spPr>
          <a:xfrm>
            <a:off x="6842760" y="2632075"/>
            <a:ext cx="76200" cy="76200"/>
          </a:xfrm>
          <a:prstGeom prst="roundRect">
            <a:avLst>
              <a:gd name="adj" fmla="val 50000"/>
            </a:avLst>
          </a:prstGeom>
          <a:solidFill>
            <a:srgbClr val="1D7A6E"/>
          </a:solidFill>
          <a:ln/>
        </p:spPr>
        <p:txBody>
          <a:bodyPr/>
          <a:lstStyle/>
          <a:p>
            <a:endParaRPr lang="en-US"/>
          </a:p>
        </p:txBody>
      </p:sp>
      <p:sp>
        <p:nvSpPr>
          <p:cNvPr id="10" name="Text 7"/>
          <p:cNvSpPr/>
          <p:nvPr/>
        </p:nvSpPr>
        <p:spPr>
          <a:xfrm>
            <a:off x="7020560" y="2632075"/>
            <a:ext cx="4489399"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3F1EC"/>
                </a:solidFill>
                <a:latin typeface="Inter" pitchFamily="34" charset="0"/>
                <a:ea typeface="Inter" pitchFamily="34" charset="-122"/>
                <a:cs typeface="Inter" pitchFamily="34" charset="-120"/>
              </a:rPr>
              <a:t>Δ columns</a:t>
            </a:r>
            <a:r>
              <a:rPr lang="en-US" sz="1300" dirty="0">
                <a:solidFill>
                  <a:srgbClr val="F3F1EC"/>
                </a:solidFill>
                <a:latin typeface="Inter" pitchFamily="34" charset="0"/>
                <a:ea typeface="Inter" pitchFamily="34" charset="-122"/>
                <a:cs typeface="Inter" pitchFamily="34" charset="-120"/>
              </a:rPr>
              <a:t>: the difference between base and each scenario</a:t>
            </a:r>
            <a:endParaRPr lang="en-US" sz="1300" dirty="0"/>
          </a:p>
        </p:txBody>
      </p:sp>
      <p:sp>
        <p:nvSpPr>
          <p:cNvPr id="11" name="Shape 8"/>
          <p:cNvSpPr/>
          <p:nvPr/>
        </p:nvSpPr>
        <p:spPr>
          <a:xfrm>
            <a:off x="6842760" y="3246760"/>
            <a:ext cx="76200" cy="76200"/>
          </a:xfrm>
          <a:prstGeom prst="roundRect">
            <a:avLst>
              <a:gd name="adj" fmla="val 50000"/>
            </a:avLst>
          </a:prstGeom>
          <a:solidFill>
            <a:srgbClr val="1D7A6E"/>
          </a:solidFill>
          <a:ln/>
        </p:spPr>
        <p:txBody>
          <a:bodyPr/>
          <a:lstStyle/>
          <a:p>
            <a:endParaRPr lang="en-US"/>
          </a:p>
        </p:txBody>
      </p:sp>
      <p:sp>
        <p:nvSpPr>
          <p:cNvPr id="12" name="Text 9"/>
          <p:cNvSpPr/>
          <p:nvPr/>
        </p:nvSpPr>
        <p:spPr>
          <a:xfrm>
            <a:off x="7020560" y="3246760"/>
            <a:ext cx="4489399"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3F1EC"/>
                </a:solidFill>
                <a:latin typeface="Inter" pitchFamily="34" charset="0"/>
                <a:ea typeface="Inter" pitchFamily="34" charset="-122"/>
                <a:cs typeface="Inter" pitchFamily="34" charset="-120"/>
              </a:rPr>
              <a:t>Coloured tags</a:t>
            </a:r>
            <a:r>
              <a:rPr lang="en-US" sz="1300" dirty="0">
                <a:solidFill>
                  <a:srgbClr val="F3F1EC"/>
                </a:solidFill>
                <a:latin typeface="Inter" pitchFamily="34" charset="0"/>
                <a:ea typeface="Inter" pitchFamily="34" charset="-122"/>
                <a:cs typeface="Inter" pitchFamily="34" charset="-120"/>
              </a:rPr>
              <a:t>: percentage difference from base, cell by cell</a:t>
            </a:r>
            <a:endParaRPr lang="en-US" sz="1300" dirty="0"/>
          </a:p>
        </p:txBody>
      </p:sp>
      <p:sp>
        <p:nvSpPr>
          <p:cNvPr id="13" name="Shape 10"/>
          <p:cNvSpPr/>
          <p:nvPr/>
        </p:nvSpPr>
        <p:spPr>
          <a:xfrm>
            <a:off x="6842760" y="3861433"/>
            <a:ext cx="4536440" cy="731520"/>
          </a:xfrm>
          <a:prstGeom prst="roundRect">
            <a:avLst>
              <a:gd name="adj" fmla="val 13889"/>
            </a:avLst>
          </a:prstGeom>
          <a:solidFill>
            <a:srgbClr val="3A2B26"/>
          </a:solidFill>
          <a:ln/>
        </p:spPr>
        <p:txBody>
          <a:bodyPr/>
          <a:lstStyle/>
          <a:p>
            <a:endParaRPr lang="en-US"/>
          </a:p>
        </p:txBody>
      </p:sp>
      <p:pic>
        <p:nvPicPr>
          <p:cNvPr id="14" name="Image 1" descr="Warning"/>
          <p:cNvPicPr>
            <a:picLocks noChangeAspect="1"/>
          </p:cNvPicPr>
          <p:nvPr/>
        </p:nvPicPr>
        <p:blipFill>
          <a:blip r:embed="rId3"/>
          <a:srcRect l="-761" r="-761"/>
          <a:stretch/>
        </p:blipFill>
        <p:spPr>
          <a:xfrm>
            <a:off x="7020560" y="4112902"/>
            <a:ext cx="148273" cy="228600"/>
          </a:xfrm>
          <a:prstGeom prst="rect">
            <a:avLst/>
          </a:prstGeom>
        </p:spPr>
      </p:pic>
      <p:sp>
        <p:nvSpPr>
          <p:cNvPr id="15" name="Text 11"/>
          <p:cNvSpPr/>
          <p:nvPr/>
        </p:nvSpPr>
        <p:spPr>
          <a:xfrm>
            <a:off x="7295833" y="4013833"/>
            <a:ext cx="402273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1EC"/>
                </a:solidFill>
                <a:latin typeface="Inter" pitchFamily="34" charset="0"/>
                <a:ea typeface="Inter" pitchFamily="34" charset="-122"/>
                <a:cs typeface="Inter" pitchFamily="34" charset="-120"/>
              </a:rPr>
              <a:t>Δ is Base − Scenario, so +10% shows a negative delta. Flip it or hide the Δ columns.</a:t>
            </a:r>
            <a:endParaRPr lang="en-US" sz="1200" dirty="0"/>
          </a:p>
        </p:txBody>
      </p:sp>
      <p:sp>
        <p:nvSpPr>
          <p:cNvPr id="16" name="Text 12"/>
          <p:cNvSpPr/>
          <p:nvPr/>
        </p:nvSpPr>
        <p:spPr>
          <a:xfrm>
            <a:off x="812800" y="6238242"/>
            <a:ext cx="33501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6"/>
                </a:solidFill>
                <a:latin typeface="Inter" pitchFamily="34" charset="0"/>
                <a:ea typeface="Inter" pitchFamily="34" charset="-122"/>
                <a:cs typeface="Inter" pitchFamily="34" charset="-120"/>
              </a:rPr>
              <a:t>Contoso Health · Synthetic demo data</a:t>
            </a:r>
            <a:endParaRPr lang="en-US" sz="1200" dirty="0"/>
          </a:p>
        </p:txBody>
      </p:sp>
      <p:pic>
        <p:nvPicPr>
          <p:cNvPr id="19" name="Picture 18">
            <a:extLst>
              <a:ext uri="{FF2B5EF4-FFF2-40B4-BE49-F238E27FC236}">
                <a16:creationId xmlns:a16="http://schemas.microsoft.com/office/drawing/2014/main" id="{128F3A1C-F6AF-B7D1-8E3F-78AC776261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3433" y="1584569"/>
            <a:ext cx="5610552" cy="3065491"/>
          </a:xfrm>
          <a:prstGeom prst="rect">
            <a:avLst/>
          </a:prstGeom>
        </p:spPr>
      </p:pic>
      <p:sp>
        <p:nvSpPr>
          <p:cNvPr id="20" name="Eyebrow"/>
          <p:cNvSpPr txBox="1"/>
          <p:nvPr/>
        </p:nvSpPr>
        <p:spPr>
          <a:xfrm>
            <a:off x="812800" y="482600"/>
            <a:ext cx="8890000" cy="228600"/>
          </a:xfrm>
          <a:prstGeom prst="rect">
            <a:avLst/>
          </a:prstGeom>
          <a:noFill/>
          <a:ln>
            <a:noFill/>
          </a:ln>
        </p:spPr>
        <p:txBody>
          <a:bodyPr wrap="square" lIns="0" tIns="0" rIns="0" bIns="0" anchor="t">
            <a:noAutofit/>
          </a:bodyPr>
          <a:lstStyle/>
          <a:p>
            <a:pPr marL="0" indent="0" algn="l">
              <a:buNone/>
            </a:pPr>
            <a:r>
              <a:rPr lang="en-US" sz="1400" b="1" spc="100" dirty="0">
                <a:solidFill>
                  <a:srgbClr val="6CC2B4"/>
                </a:solidFill>
                <a:latin typeface="Inter"/>
                <a:ea typeface="Inter"/>
                <a:cs typeface="Inter"/>
              </a:rPr>
              <a:t>SCENARIOS · COMPARE VIEW</a:t>
            </a:r>
          </a:p>
        </p:txBody>
      </p:sp>
    </p:spTree>
    <p:extLst>
      <p:ext uri="{BB962C8B-B14F-4D97-AF65-F5344CB8AC3E}">
        <p14:creationId xmlns:p14="http://schemas.microsoft.com/office/powerpoint/2010/main" val="275763202"/>
      </p:ext>
    </p:extLst>
  </p:cSld>
  <p:clrMapOvr>
    <a:masterClrMapping/>
  </p:clrMapOvr>
</p:sld>
</file>

<file path=ppt/theme/theme1.xml><?xml version="1.0" encoding="utf-8"?>
<a:theme xmlns:a="http://schemas.openxmlformats.org/drawingml/2006/main" name="Contoso Health: Driver-Based Operational Planning in Microsoft Fabric [1791267924251]">
  <a:themeElements>
    <a:clrScheme name="Contoso Health: Driver-Based Operational Planning in Microsoft Fabric">
      <a:dk1>
        <a:srgbClr val="1B2533"/>
      </a:dk1>
      <a:lt1>
        <a:srgbClr val="F6F4EF"/>
      </a:lt1>
      <a:dk2>
        <a:srgbClr val="525962"/>
      </a:dk2>
      <a:lt2>
        <a:srgbClr val="E0DFDC"/>
      </a:lt2>
      <a:accent1>
        <a:srgbClr val="1D7A6E"/>
      </a:accent1>
      <a:accent2>
        <a:srgbClr val="B35716"/>
      </a:accent2>
      <a:accent3>
        <a:srgbClr val="7FB3D5"/>
      </a:accent3>
      <a:accent4>
        <a:srgbClr val="6CC2B4"/>
      </a:accent4>
      <a:accent5>
        <a:srgbClr val="566070"/>
      </a:accent5>
      <a:accent6>
        <a:srgbClr val="D6D2C8"/>
      </a:accent6>
      <a:hlink>
        <a:srgbClr val="0563C1"/>
      </a:hlink>
      <a:folHlink>
        <a:srgbClr val="954F72"/>
      </a:folHlink>
    </a:clrScheme>
    <a:fontScheme name="Contoso Health: Driver-Based Operational Planning in Microsoft Fabric">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86F5551-D931-41E5-B263-60B0BECB5E04}">
  <we:reference id="wa200010001" version="1.0.0.1" store="en-US" storeType="OMEX"/>
  <we:alternateReferences>
    <we:reference id="WA200010001" version="1.0.0.1" store="WA200010001" storeType="OMEX"/>
  </we:alternateReferences>
  <we:properties>
    <we:property name="claude.fileId" value="&quot;fad924ad-a816-4db4-97d3-35327941ab5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1284</TotalTime>
  <Words>2625</Words>
  <Application>Microsoft Office PowerPoint</Application>
  <PresentationFormat>Widescreen</PresentationFormat>
  <Paragraphs>331</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Inter</vt:lpstr>
      <vt:lpstr>Source Serif 4</vt:lpstr>
      <vt:lpstr>Contoso Health: Driver-Based Operational Planning in Microsoft Fabric [1791267924251]</vt:lpstr>
      <vt:lpstr>Budget patients, not dollars</vt:lpstr>
      <vt:lpstr>“Volume was up” explains only half the overrun</vt:lpstr>
      <vt:lpstr>Hospital-wide, agency labor ran $1.29M over budget</vt:lpstr>
      <vt:lpstr>Forecast the patients, and let everything else follow</vt:lpstr>
      <vt:lpstr>One Fabric platform, from source data to plan</vt:lpstr>
      <vt:lpstr>One semantic model feeds every report and plan</vt:lpstr>
      <vt:lpstr>Five steps to a driver-based plan</vt:lpstr>
      <vt:lpstr>Step 1: create the forecast measure</vt:lpstr>
      <vt:lpstr>Step 2: let Predict learn from 32 months of history</vt:lpstr>
      <vt:lpstr>Column guide: the volume measures</vt:lpstr>
      <vt:lpstr>Column guide: the staffing measures</vt:lpstr>
      <vt:lpstr>Four constants turn hours into people and dollars</vt:lpstr>
      <vt:lpstr>Predict forecasts 94,180 patient days for 2027</vt:lpstr>
      <vt:lpstr>How a simulation works</vt:lpstr>
      <vt:lpstr>+10%: one change flows through every measure</vt:lpstr>
      <vt:lpstr>Respiratory surge: +20% on seven units, three winter months</vt:lpstr>
      <vt:lpstr>The surge would push four units past their beds</vt:lpstr>
      <vt:lpstr>Four scenarios against one baseline</vt:lpstr>
      <vt:lpstr>Reading the Compare 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Suresh Mani</dc:creator>
  <cp:lastModifiedBy>Suresh Mani</cp:lastModifiedBy>
  <cp:revision>3</cp:revision>
  <dcterms:created xsi:type="dcterms:W3CDTF">2026-10-05T09:03:57Z</dcterms:created>
  <dcterms:modified xsi:type="dcterms:W3CDTF">2026-10-06T06:28:43Z</dcterms:modified>
</cp:coreProperties>
</file>